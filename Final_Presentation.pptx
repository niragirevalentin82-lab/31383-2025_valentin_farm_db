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6" r:id="rId7"/>
    <p:sldId id="267" r:id="rId8"/>
    <p:sldId id="261" r:id="rId9"/>
    <p:sldId id="262" r:id="rId10"/>
    <p:sldId id="263" r:id="rId11"/>
    <p:sldId id="264" r:id="rId12"/>
    <p:sldId id="265"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8E2A2E0-FFD5-4723-A68A-DBB6C5008185}">
          <p14:sldIdLst>
            <p14:sldId id="256"/>
            <p14:sldId id="257"/>
            <p14:sldId id="258"/>
            <p14:sldId id="259"/>
            <p14:sldId id="260"/>
            <p14:sldId id="266"/>
            <p14:sldId id="267"/>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236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D22"/>
        </a:solidFill>
        <a:effectLst/>
      </p:bgPr>
    </p:bg>
    <p:spTree>
      <p:nvGrpSpPr>
        <p:cNvPr id="1" name=""/>
        <p:cNvGrpSpPr/>
        <p:nvPr/>
      </p:nvGrpSpPr>
      <p:grpSpPr>
        <a:xfrm>
          <a:off x="0" y="0"/>
          <a:ext cx="0" cy="0"/>
          <a:chOff x="0" y="0"/>
          <a:chExt cx="0" cy="0"/>
        </a:xfrm>
      </p:grpSpPr>
      <p:sp>
        <p:nvSpPr>
          <p:cNvPr id="2" name="Shape 0"/>
          <p:cNvSpPr/>
          <p:nvPr/>
        </p:nvSpPr>
        <p:spPr>
          <a:xfrm>
            <a:off x="8778240" y="-2011680"/>
            <a:ext cx="6400800" cy="6400800"/>
          </a:xfrm>
          <a:prstGeom prst="ellipse">
            <a:avLst/>
          </a:prstGeom>
          <a:solidFill>
            <a:srgbClr val="13251A"/>
          </a:solidFill>
          <a:ln/>
        </p:spPr>
      </p:sp>
      <p:sp>
        <p:nvSpPr>
          <p:cNvPr id="3" name="Shape 1"/>
          <p:cNvSpPr/>
          <p:nvPr/>
        </p:nvSpPr>
        <p:spPr>
          <a:xfrm>
            <a:off x="10424160" y="4206240"/>
            <a:ext cx="3840480" cy="3840480"/>
          </a:xfrm>
          <a:prstGeom prst="ellipse">
            <a:avLst/>
          </a:prstGeom>
          <a:solidFill>
            <a:srgbClr val="6E9B4E">
              <a:alpha val="22000"/>
            </a:srgbClr>
          </a:solidFill>
          <a:ln/>
        </p:spPr>
      </p:sp>
      <p:sp>
        <p:nvSpPr>
          <p:cNvPr id="4" name="Text 2"/>
          <p:cNvSpPr/>
          <p:nvPr/>
        </p:nvSpPr>
        <p:spPr>
          <a:xfrm>
            <a:off x="640080" y="640080"/>
            <a:ext cx="8686800" cy="365760"/>
          </a:xfrm>
          <a:prstGeom prst="rect">
            <a:avLst/>
          </a:prstGeom>
          <a:noFill/>
          <a:ln/>
        </p:spPr>
        <p:txBody>
          <a:bodyPr wrap="square" rtlCol="0" anchor="ctr"/>
          <a:lstStyle/>
          <a:p>
            <a:pPr marL="0" indent="0">
              <a:buNone/>
            </a:pPr>
            <a:r>
              <a:rPr lang="en-US" sz="1250" b="1" kern="0" spc="200" dirty="0">
                <a:solidFill>
                  <a:srgbClr val="D9A441"/>
                </a:solidFill>
                <a:latin typeface=" Helvetica Helvetica "/>
                <a:ea typeface="Calibri" pitchFamily="34" charset="-122"/>
                <a:cs typeface="Calibri" pitchFamily="34" charset="-120"/>
              </a:rPr>
              <a:t>DPR400210  ·  DATABASE PROGRAMMING WITH ORACLE DATABASE</a:t>
            </a:r>
            <a:endParaRPr lang="en-US" sz="1250" dirty="0">
              <a:latin typeface=" Helvetica Helvetica "/>
            </a:endParaRPr>
          </a:p>
        </p:txBody>
      </p:sp>
      <p:pic>
        <p:nvPicPr>
          <p:cNvPr id="5" name="Image 0" descr="/home/claude/farmdb/icon_leaf.png"/>
          <p:cNvPicPr>
            <a:picLocks noChangeAspect="1"/>
          </p:cNvPicPr>
          <p:nvPr/>
        </p:nvPicPr>
        <p:blipFill>
          <a:blip r:embed="rId3"/>
          <a:stretch>
            <a:fillRect/>
          </a:stretch>
        </p:blipFill>
        <p:spPr>
          <a:xfrm>
            <a:off x="640080" y="1280160"/>
            <a:ext cx="548640" cy="548640"/>
          </a:xfrm>
          <a:prstGeom prst="rect">
            <a:avLst/>
          </a:prstGeom>
        </p:spPr>
      </p:pic>
      <p:sp>
        <p:nvSpPr>
          <p:cNvPr id="6" name="Text 3"/>
          <p:cNvSpPr/>
          <p:nvPr/>
        </p:nvSpPr>
        <p:spPr>
          <a:xfrm>
            <a:off x="621792" y="1920240"/>
            <a:ext cx="9144000" cy="1737360"/>
          </a:xfrm>
          <a:prstGeom prst="rect">
            <a:avLst/>
          </a:prstGeom>
          <a:noFill/>
          <a:ln/>
        </p:spPr>
        <p:txBody>
          <a:bodyPr wrap="square" rtlCol="0" anchor="ctr"/>
          <a:lstStyle/>
          <a:p>
            <a:pPr marL="0" indent="0">
              <a:lnSpc>
                <a:spcPts val="4200"/>
              </a:lnSpc>
              <a:buNone/>
            </a:pPr>
            <a:r>
              <a:rPr lang="en-US" sz="3800" b="1" dirty="0">
                <a:solidFill>
                  <a:srgbClr val="FFFFFF"/>
                </a:solidFill>
                <a:latin typeface=" Helvetica Helvetica "/>
                <a:ea typeface="Cambria" pitchFamily="34" charset="-122"/>
                <a:cs typeface="Cambria" pitchFamily="34" charset="-120"/>
              </a:rPr>
              <a:t>Farmer Produce &amp; Market</a:t>
            </a:r>
            <a:endParaRPr lang="en-US" sz="3800" dirty="0">
              <a:latin typeface=" Helvetica Helvetica "/>
            </a:endParaRPr>
          </a:p>
          <a:p>
            <a:pPr marL="0" indent="0">
              <a:lnSpc>
                <a:spcPts val="4200"/>
              </a:lnSpc>
              <a:buNone/>
            </a:pPr>
            <a:r>
              <a:rPr lang="en-US" sz="3800" b="1" dirty="0">
                <a:solidFill>
                  <a:srgbClr val="FFFFFF"/>
                </a:solidFill>
                <a:latin typeface=" Helvetica Helvetica "/>
                <a:ea typeface="Cambria" pitchFamily="34" charset="-122"/>
                <a:cs typeface="Cambria" pitchFamily="34" charset="-120"/>
              </a:rPr>
              <a:t>Supply Chain Management System</a:t>
            </a:r>
            <a:endParaRPr lang="en-US" sz="3800" dirty="0">
              <a:latin typeface=" Helvetica Helvetica "/>
            </a:endParaRPr>
          </a:p>
        </p:txBody>
      </p:sp>
      <p:sp>
        <p:nvSpPr>
          <p:cNvPr id="7" name="Text 4"/>
          <p:cNvSpPr/>
          <p:nvPr/>
        </p:nvSpPr>
        <p:spPr>
          <a:xfrm>
            <a:off x="640080" y="3749040"/>
            <a:ext cx="8229600" cy="502920"/>
          </a:xfrm>
          <a:prstGeom prst="rect">
            <a:avLst/>
          </a:prstGeom>
          <a:noFill/>
          <a:ln/>
        </p:spPr>
        <p:txBody>
          <a:bodyPr wrap="square" rtlCol="0" anchor="ctr"/>
          <a:lstStyle/>
          <a:p>
            <a:pPr marL="0" indent="0">
              <a:buNone/>
            </a:pPr>
            <a:r>
              <a:rPr lang="en-US" sz="1900" i="1" dirty="0">
                <a:solidFill>
                  <a:srgbClr val="C9D9B8"/>
                </a:solidFill>
                <a:latin typeface=" Helvetica Helvetica "/>
                <a:ea typeface="Cambria" pitchFamily="34" charset="-122"/>
                <a:cs typeface="Cambria" pitchFamily="34" charset="-120"/>
              </a:rPr>
              <a:t>Phase VIII — Documentation &amp; Final Presentation</a:t>
            </a:r>
            <a:endParaRPr lang="en-US" sz="1900" dirty="0">
              <a:latin typeface=" Helvetica Helvetica "/>
            </a:endParaRPr>
          </a:p>
        </p:txBody>
      </p:sp>
      <p:sp>
        <p:nvSpPr>
          <p:cNvPr id="8" name="Shape 5"/>
          <p:cNvSpPr/>
          <p:nvPr/>
        </p:nvSpPr>
        <p:spPr>
          <a:xfrm>
            <a:off x="640080" y="4370832"/>
            <a:ext cx="2194560" cy="0"/>
          </a:xfrm>
          <a:prstGeom prst="line">
            <a:avLst/>
          </a:prstGeom>
          <a:noFill/>
          <a:ln w="25400">
            <a:solidFill>
              <a:srgbClr val="6E9B4E"/>
            </a:solidFill>
            <a:prstDash val="solid"/>
          </a:ln>
        </p:spPr>
      </p:sp>
      <p:sp>
        <p:nvSpPr>
          <p:cNvPr id="9" name="Text 6"/>
          <p:cNvSpPr/>
          <p:nvPr/>
        </p:nvSpPr>
        <p:spPr>
          <a:xfrm>
            <a:off x="640080" y="4709160"/>
            <a:ext cx="9144000" cy="365760"/>
          </a:xfrm>
          <a:prstGeom prst="rect">
            <a:avLst/>
          </a:prstGeom>
          <a:noFill/>
          <a:ln/>
        </p:spPr>
        <p:txBody>
          <a:bodyPr wrap="square" rtlCol="0" anchor="ctr"/>
          <a:lstStyle/>
          <a:p>
            <a:pPr marL="0" indent="0">
              <a:buNone/>
            </a:pPr>
            <a:r>
              <a:rPr lang="en-US" sz="1500" b="1" dirty="0">
                <a:solidFill>
                  <a:srgbClr val="D9A441"/>
                </a:solidFill>
                <a:latin typeface=" Helvetica Helvetica "/>
                <a:ea typeface="Calibri" pitchFamily="34" charset="-122"/>
                <a:cs typeface="Calibri" pitchFamily="34" charset="-120"/>
              </a:rPr>
              <a:t>Student:  </a:t>
            </a:r>
            <a:r>
              <a:rPr lang="en-US" sz="1500" dirty="0">
                <a:solidFill>
                  <a:srgbClr val="F4F1E8"/>
                </a:solidFill>
                <a:latin typeface=" Helvetica Helvetica "/>
                <a:ea typeface="Calibri" pitchFamily="34" charset="-122"/>
                <a:cs typeface="Calibri" pitchFamily="34" charset="-120"/>
              </a:rPr>
              <a:t>Valentin   </a:t>
            </a:r>
            <a:r>
              <a:rPr lang="en-US" sz="1500" b="1" dirty="0">
                <a:solidFill>
                  <a:srgbClr val="D9A441"/>
                </a:solidFill>
                <a:latin typeface=" Helvetica Helvetica "/>
                <a:ea typeface="Calibri" pitchFamily="34" charset="-122"/>
                <a:cs typeface="Calibri" pitchFamily="34" charset="-120"/>
              </a:rPr>
              <a:t>     Student ID:  </a:t>
            </a:r>
            <a:r>
              <a:rPr lang="en-US" sz="1500" dirty="0">
                <a:solidFill>
                  <a:srgbClr val="F4F1E8"/>
                </a:solidFill>
                <a:latin typeface=" Helvetica Helvetica "/>
                <a:ea typeface="Calibri" pitchFamily="34" charset="-122"/>
                <a:cs typeface="Calibri" pitchFamily="34" charset="-120"/>
              </a:rPr>
              <a:t>31383/2025</a:t>
            </a:r>
            <a:endParaRPr lang="en-US" sz="1500" dirty="0">
              <a:latin typeface=" Helvetica Helvetica "/>
            </a:endParaRPr>
          </a:p>
        </p:txBody>
      </p:sp>
      <p:sp>
        <p:nvSpPr>
          <p:cNvPr id="10" name="Text 7"/>
          <p:cNvSpPr/>
          <p:nvPr/>
        </p:nvSpPr>
        <p:spPr>
          <a:xfrm>
            <a:off x="640080" y="5120640"/>
            <a:ext cx="7315200" cy="365760"/>
          </a:xfrm>
          <a:prstGeom prst="rect">
            <a:avLst/>
          </a:prstGeom>
          <a:noFill/>
          <a:ln/>
        </p:spPr>
        <p:txBody>
          <a:bodyPr wrap="square" rtlCol="0" anchor="ctr"/>
          <a:lstStyle/>
          <a:p>
            <a:pPr marL="0" indent="0">
              <a:buNone/>
            </a:pPr>
            <a:r>
              <a:rPr lang="en-US" sz="1500" b="1" dirty="0">
                <a:solidFill>
                  <a:srgbClr val="D9A441"/>
                </a:solidFill>
                <a:latin typeface=" Helvetica Helvetica "/>
                <a:ea typeface="Calibri" pitchFamily="34" charset="-122"/>
                <a:cs typeface="Calibri" pitchFamily="34" charset="-120"/>
              </a:rPr>
              <a:t>Database:  </a:t>
            </a:r>
            <a:r>
              <a:rPr lang="en-US" sz="1500" dirty="0">
                <a:solidFill>
                  <a:srgbClr val="F4F1E8"/>
                </a:solidFill>
                <a:latin typeface=" Helvetica Helvetica "/>
                <a:ea typeface="Courier New" pitchFamily="34" charset="-122"/>
                <a:cs typeface="Courier New" pitchFamily="34" charset="-120"/>
              </a:rPr>
              <a:t>31383_2025_Valentin_Farm_DB</a:t>
            </a:r>
            <a:endParaRPr lang="en-US" sz="1500" dirty="0">
              <a:latin typeface=" Helvetica Helvetica "/>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F3D22"/>
          </a:solidFill>
          <a:ln/>
        </p:spPr>
      </p:sp>
      <p:sp>
        <p:nvSpPr>
          <p:cNvPr id="3" name="Text 1"/>
          <p:cNvSpPr/>
          <p:nvPr/>
        </p:nvSpPr>
        <p:spPr>
          <a:xfrm>
            <a:off x="640080" y="128016"/>
            <a:ext cx="7315200" cy="274320"/>
          </a:xfrm>
          <a:prstGeom prst="rect">
            <a:avLst/>
          </a:prstGeom>
          <a:noFill/>
          <a:ln/>
        </p:spPr>
        <p:txBody>
          <a:bodyPr wrap="square" rtlCol="0" anchor="ctr"/>
          <a:lstStyle/>
          <a:p>
            <a:pPr marL="0" indent="0">
              <a:buNone/>
            </a:pPr>
            <a:r>
              <a:rPr lang="en-US" sz="1100" b="1" kern="0" spc="150" dirty="0" smtClean="0">
                <a:solidFill>
                  <a:srgbClr val="D9A441"/>
                </a:solidFill>
                <a:latin typeface="Helvetica "/>
                <a:ea typeface="Calibri" pitchFamily="34" charset="-122"/>
                <a:cs typeface="Calibri" pitchFamily="34" charset="-120"/>
              </a:rPr>
              <a:t>01 · OVERVIEW</a:t>
            </a:r>
            <a:endParaRPr lang="en-US" sz="1100" dirty="0">
              <a:latin typeface="Helvetica "/>
            </a:endParaRPr>
          </a:p>
        </p:txBody>
      </p:sp>
      <p:sp>
        <p:nvSpPr>
          <p:cNvPr id="4" name="Text 2"/>
          <p:cNvSpPr/>
          <p:nvPr/>
        </p:nvSpPr>
        <p:spPr>
          <a:xfrm>
            <a:off x="640080" y="365760"/>
            <a:ext cx="9601200" cy="548640"/>
          </a:xfrm>
          <a:prstGeom prst="rect">
            <a:avLst/>
          </a:prstGeom>
          <a:noFill/>
          <a:ln/>
        </p:spPr>
        <p:txBody>
          <a:bodyPr wrap="square" rtlCol="0" anchor="ctr"/>
          <a:lstStyle/>
          <a:p>
            <a:pPr marL="0" indent="0">
              <a:buNone/>
            </a:pPr>
            <a:r>
              <a:rPr lang="en-US" sz="2400" b="1" dirty="0">
                <a:solidFill>
                  <a:srgbClr val="FFFFFF"/>
                </a:solidFill>
                <a:latin typeface="Helvetica "/>
                <a:ea typeface="Cambria" pitchFamily="34" charset="-122"/>
                <a:cs typeface="Cambria" pitchFamily="34" charset="-120"/>
              </a:rPr>
              <a:t>Introduction</a:t>
            </a:r>
            <a:endParaRPr lang="en-US" sz="2400" dirty="0">
              <a:latin typeface="Helvetica "/>
            </a:endParaRPr>
          </a:p>
        </p:txBody>
      </p:sp>
      <p:sp>
        <p:nvSpPr>
          <p:cNvPr id="5" name="Text 3"/>
          <p:cNvSpPr/>
          <p:nvPr/>
        </p:nvSpPr>
        <p:spPr>
          <a:xfrm>
            <a:off x="10698480" y="320040"/>
            <a:ext cx="1188720" cy="320040"/>
          </a:xfrm>
          <a:prstGeom prst="rect">
            <a:avLst/>
          </a:prstGeom>
          <a:noFill/>
          <a:ln/>
        </p:spPr>
        <p:txBody>
          <a:bodyPr wrap="square" rtlCol="0" anchor="ctr"/>
          <a:lstStyle/>
          <a:p>
            <a:pPr marL="0" indent="0" algn="r">
              <a:buNone/>
            </a:pPr>
            <a:r>
              <a:rPr lang="en-US" sz="1050" dirty="0">
                <a:solidFill>
                  <a:srgbClr val="9FB48A"/>
                </a:solidFill>
                <a:latin typeface="Helvetica "/>
                <a:ea typeface="Calibri" pitchFamily="34" charset="-122"/>
                <a:cs typeface="Calibri" pitchFamily="34" charset="-120"/>
              </a:rPr>
              <a:t>DPR400210</a:t>
            </a:r>
            <a:endParaRPr lang="en-US" sz="1050" dirty="0">
              <a:latin typeface="Helvetica "/>
            </a:endParaRPr>
          </a:p>
        </p:txBody>
      </p:sp>
      <p:sp>
        <p:nvSpPr>
          <p:cNvPr id="6" name="Shape 4"/>
          <p:cNvSpPr/>
          <p:nvPr/>
        </p:nvSpPr>
        <p:spPr>
          <a:xfrm>
            <a:off x="548640" y="1325880"/>
            <a:ext cx="6675120" cy="5029200"/>
          </a:xfrm>
          <a:prstGeom prst="roundRect">
            <a:avLst>
              <a:gd name="adj" fmla="val 2182"/>
            </a:avLst>
          </a:prstGeom>
          <a:solidFill>
            <a:srgbClr val="F3F6EE"/>
          </a:solidFill>
          <a:ln/>
        </p:spPr>
      </p:sp>
      <p:sp>
        <p:nvSpPr>
          <p:cNvPr id="7" name="Text 5"/>
          <p:cNvSpPr/>
          <p:nvPr/>
        </p:nvSpPr>
        <p:spPr>
          <a:xfrm>
            <a:off x="868680" y="1508760"/>
            <a:ext cx="6035040" cy="411480"/>
          </a:xfrm>
          <a:prstGeom prst="rect">
            <a:avLst/>
          </a:prstGeom>
          <a:noFill/>
          <a:ln/>
        </p:spPr>
        <p:txBody>
          <a:bodyPr wrap="square" rtlCol="0" anchor="ctr"/>
          <a:lstStyle/>
          <a:p>
            <a:pPr marL="0" indent="0">
              <a:buNone/>
            </a:pPr>
            <a:r>
              <a:rPr lang="en-US" sz="1800" b="1" dirty="0">
                <a:solidFill>
                  <a:srgbClr val="1F3D22"/>
                </a:solidFill>
                <a:latin typeface="Helvetica "/>
                <a:ea typeface="Cambria" pitchFamily="34" charset="-122"/>
                <a:cs typeface="Cambria" pitchFamily="34" charset="-120"/>
              </a:rPr>
              <a:t>What This Project Is</a:t>
            </a:r>
            <a:endParaRPr lang="en-US" sz="1800" dirty="0">
              <a:latin typeface="Helvetica "/>
            </a:endParaRPr>
          </a:p>
        </p:txBody>
      </p:sp>
      <p:sp>
        <p:nvSpPr>
          <p:cNvPr id="8" name="Text 6"/>
          <p:cNvSpPr/>
          <p:nvPr/>
        </p:nvSpPr>
        <p:spPr>
          <a:xfrm>
            <a:off x="868680" y="1965960"/>
            <a:ext cx="6035040" cy="1280160"/>
          </a:xfrm>
          <a:prstGeom prst="rect">
            <a:avLst/>
          </a:prstGeom>
          <a:noFill/>
          <a:ln/>
        </p:spPr>
        <p:txBody>
          <a:bodyPr wrap="square" rtlCol="0" anchor="ctr"/>
          <a:lstStyle/>
          <a:p>
            <a:pPr marL="0" indent="0">
              <a:lnSpc>
                <a:spcPts val="2000"/>
              </a:lnSpc>
              <a:buNone/>
            </a:pPr>
            <a:r>
              <a:rPr lang="en-US" sz="1450" dirty="0">
                <a:solidFill>
                  <a:srgbClr val="2A2A26"/>
                </a:solidFill>
                <a:latin typeface="Helvetica "/>
                <a:ea typeface="Calibri" pitchFamily="34" charset="-122"/>
                <a:cs typeface="Calibri" pitchFamily="34" charset="-120"/>
              </a:rPr>
              <a:t>A complete Oracle database solution for a regional agricultural cooperative, covering the full journey of produce — from farmer registration and harvest logging, through sales to buyers, to payment and audit — with an Oracle APEX front end for day-to-day use.</a:t>
            </a:r>
            <a:endParaRPr lang="en-US" sz="1450" dirty="0">
              <a:latin typeface="Helvetica "/>
            </a:endParaRPr>
          </a:p>
        </p:txBody>
      </p:sp>
      <p:sp>
        <p:nvSpPr>
          <p:cNvPr id="9" name="Shape 7"/>
          <p:cNvSpPr/>
          <p:nvPr/>
        </p:nvSpPr>
        <p:spPr>
          <a:xfrm>
            <a:off x="868680" y="3429000"/>
            <a:ext cx="384048" cy="384048"/>
          </a:xfrm>
          <a:prstGeom prst="ellipse">
            <a:avLst/>
          </a:prstGeom>
          <a:solidFill>
            <a:srgbClr val="6E9B4E"/>
          </a:solidFill>
          <a:ln/>
        </p:spPr>
      </p:sp>
      <p:pic>
        <p:nvPicPr>
          <p:cNvPr id="10" name="Image 0" descr="/home/claude/farmdb/icon_users.png"/>
          <p:cNvPicPr>
            <a:picLocks noChangeAspect="1"/>
          </p:cNvPicPr>
          <p:nvPr/>
        </p:nvPicPr>
        <p:blipFill>
          <a:blip r:embed="rId3"/>
          <a:stretch>
            <a:fillRect/>
          </a:stretch>
        </p:blipFill>
        <p:spPr>
          <a:xfrm>
            <a:off x="960120" y="3520440"/>
            <a:ext cx="201168" cy="201168"/>
          </a:xfrm>
          <a:prstGeom prst="rect">
            <a:avLst/>
          </a:prstGeom>
        </p:spPr>
      </p:pic>
      <p:sp>
        <p:nvSpPr>
          <p:cNvPr id="11" name="Text 8"/>
          <p:cNvSpPr/>
          <p:nvPr/>
        </p:nvSpPr>
        <p:spPr>
          <a:xfrm>
            <a:off x="1371600" y="3410712"/>
            <a:ext cx="5394960" cy="420624"/>
          </a:xfrm>
          <a:prstGeom prst="rect">
            <a:avLst/>
          </a:prstGeom>
          <a:noFill/>
          <a:ln/>
        </p:spPr>
        <p:txBody>
          <a:bodyPr wrap="square" rtlCol="0" anchor="ctr"/>
          <a:lstStyle/>
          <a:p>
            <a:pPr marL="0" indent="0">
              <a:buNone/>
            </a:pPr>
            <a:r>
              <a:rPr lang="en-US" sz="1350" dirty="0">
                <a:solidFill>
                  <a:srgbClr val="2A2A26"/>
                </a:solidFill>
                <a:latin typeface="Helvetica "/>
                <a:ea typeface="Calibri" pitchFamily="34" charset="-122"/>
                <a:cs typeface="Calibri" pitchFamily="34" charset="-120"/>
              </a:rPr>
              <a:t>5 core actors: Farmer, Clerk, Buyer, System, Admin</a:t>
            </a:r>
            <a:endParaRPr lang="en-US" sz="1350" dirty="0">
              <a:latin typeface="Helvetica "/>
            </a:endParaRPr>
          </a:p>
        </p:txBody>
      </p:sp>
      <p:sp>
        <p:nvSpPr>
          <p:cNvPr id="12" name="Shape 9"/>
          <p:cNvSpPr/>
          <p:nvPr/>
        </p:nvSpPr>
        <p:spPr>
          <a:xfrm>
            <a:off x="868680" y="4087368"/>
            <a:ext cx="384048" cy="384048"/>
          </a:xfrm>
          <a:prstGeom prst="ellipse">
            <a:avLst/>
          </a:prstGeom>
          <a:solidFill>
            <a:srgbClr val="6E9B4E"/>
          </a:solidFill>
          <a:ln/>
        </p:spPr>
      </p:sp>
      <p:pic>
        <p:nvPicPr>
          <p:cNvPr id="13" name="Image 1" descr="/home/claude/farmdb/icon_clipboard.png"/>
          <p:cNvPicPr>
            <a:picLocks noChangeAspect="1"/>
          </p:cNvPicPr>
          <p:nvPr/>
        </p:nvPicPr>
        <p:blipFill>
          <a:blip r:embed="rId4"/>
          <a:stretch>
            <a:fillRect/>
          </a:stretch>
        </p:blipFill>
        <p:spPr>
          <a:xfrm>
            <a:off x="960120" y="4178808"/>
            <a:ext cx="201168" cy="201168"/>
          </a:xfrm>
          <a:prstGeom prst="rect">
            <a:avLst/>
          </a:prstGeom>
        </p:spPr>
      </p:pic>
      <p:sp>
        <p:nvSpPr>
          <p:cNvPr id="14" name="Text 10"/>
          <p:cNvSpPr/>
          <p:nvPr/>
        </p:nvSpPr>
        <p:spPr>
          <a:xfrm>
            <a:off x="1371600" y="4069080"/>
            <a:ext cx="5394960" cy="420624"/>
          </a:xfrm>
          <a:prstGeom prst="rect">
            <a:avLst/>
          </a:prstGeom>
          <a:noFill/>
          <a:ln/>
        </p:spPr>
        <p:txBody>
          <a:bodyPr wrap="square" rtlCol="0" anchor="ctr"/>
          <a:lstStyle/>
          <a:p>
            <a:pPr marL="0" indent="0">
              <a:buNone/>
            </a:pPr>
            <a:r>
              <a:rPr lang="en-US" sz="1350" dirty="0">
                <a:solidFill>
                  <a:srgbClr val="2A2A26"/>
                </a:solidFill>
                <a:latin typeface="Helvetica "/>
                <a:ea typeface="Calibri" pitchFamily="34" charset="-122"/>
                <a:cs typeface="Calibri" pitchFamily="34" charset="-120"/>
              </a:rPr>
              <a:t>9 database tables, fully normalized to 3NF</a:t>
            </a:r>
            <a:endParaRPr lang="en-US" sz="1350" dirty="0">
              <a:latin typeface="Helvetica "/>
            </a:endParaRPr>
          </a:p>
        </p:txBody>
      </p:sp>
      <p:sp>
        <p:nvSpPr>
          <p:cNvPr id="15" name="Shape 11"/>
          <p:cNvSpPr/>
          <p:nvPr/>
        </p:nvSpPr>
        <p:spPr>
          <a:xfrm>
            <a:off x="868680" y="4745736"/>
            <a:ext cx="384048" cy="384048"/>
          </a:xfrm>
          <a:prstGeom prst="ellipse">
            <a:avLst/>
          </a:prstGeom>
          <a:solidFill>
            <a:srgbClr val="6E9B4E"/>
          </a:solidFill>
          <a:ln/>
        </p:spPr>
      </p:sp>
      <p:pic>
        <p:nvPicPr>
          <p:cNvPr id="16" name="Image 2" descr="/home/claude/farmdb/icon_trend.png"/>
          <p:cNvPicPr>
            <a:picLocks noChangeAspect="1"/>
          </p:cNvPicPr>
          <p:nvPr/>
        </p:nvPicPr>
        <p:blipFill>
          <a:blip r:embed="rId5"/>
          <a:stretch>
            <a:fillRect/>
          </a:stretch>
        </p:blipFill>
        <p:spPr>
          <a:xfrm>
            <a:off x="960120" y="4837176"/>
            <a:ext cx="201168" cy="201168"/>
          </a:xfrm>
          <a:prstGeom prst="rect">
            <a:avLst/>
          </a:prstGeom>
        </p:spPr>
      </p:pic>
      <p:sp>
        <p:nvSpPr>
          <p:cNvPr id="17" name="Text 12"/>
          <p:cNvSpPr/>
          <p:nvPr/>
        </p:nvSpPr>
        <p:spPr>
          <a:xfrm>
            <a:off x="1371600" y="4727448"/>
            <a:ext cx="5394960" cy="420624"/>
          </a:xfrm>
          <a:prstGeom prst="rect">
            <a:avLst/>
          </a:prstGeom>
          <a:noFill/>
          <a:ln/>
        </p:spPr>
        <p:txBody>
          <a:bodyPr wrap="square" rtlCol="0" anchor="ctr"/>
          <a:lstStyle/>
          <a:p>
            <a:pPr marL="0" indent="0">
              <a:buNone/>
            </a:pPr>
            <a:r>
              <a:rPr lang="en-US" sz="1350" dirty="0">
                <a:solidFill>
                  <a:srgbClr val="2A2A26"/>
                </a:solidFill>
                <a:latin typeface="Helvetica "/>
                <a:ea typeface="Calibri" pitchFamily="34" charset="-122"/>
                <a:cs typeface="Calibri" pitchFamily="34" charset="-120"/>
              </a:rPr>
              <a:t>PL/SQL package, triggers, and an APEX dashboard</a:t>
            </a:r>
            <a:endParaRPr lang="en-US" sz="1350" dirty="0">
              <a:latin typeface="Helvetica "/>
            </a:endParaRPr>
          </a:p>
        </p:txBody>
      </p:sp>
      <p:sp>
        <p:nvSpPr>
          <p:cNvPr id="18" name="Shape 13"/>
          <p:cNvSpPr/>
          <p:nvPr/>
        </p:nvSpPr>
        <p:spPr>
          <a:xfrm>
            <a:off x="7452360" y="1280160"/>
            <a:ext cx="4206240" cy="5029200"/>
          </a:xfrm>
          <a:prstGeom prst="roundRect">
            <a:avLst>
              <a:gd name="adj" fmla="val 2609"/>
            </a:avLst>
          </a:prstGeom>
          <a:solidFill>
            <a:srgbClr val="1F3D22"/>
          </a:solidFill>
          <a:ln/>
        </p:spPr>
      </p:sp>
      <p:sp>
        <p:nvSpPr>
          <p:cNvPr id="19" name="Text 14"/>
          <p:cNvSpPr/>
          <p:nvPr/>
        </p:nvSpPr>
        <p:spPr>
          <a:xfrm>
            <a:off x="7772400" y="1508760"/>
            <a:ext cx="3566160" cy="411480"/>
          </a:xfrm>
          <a:prstGeom prst="rect">
            <a:avLst/>
          </a:prstGeom>
          <a:noFill/>
          <a:ln/>
        </p:spPr>
        <p:txBody>
          <a:bodyPr wrap="square" rtlCol="0" anchor="ctr"/>
          <a:lstStyle/>
          <a:p>
            <a:pPr marL="0" indent="0">
              <a:buNone/>
            </a:pPr>
            <a:r>
              <a:rPr lang="en-US" sz="1700" b="1" dirty="0">
                <a:solidFill>
                  <a:srgbClr val="FFFFFF"/>
                </a:solidFill>
                <a:latin typeface="Helvetica "/>
                <a:ea typeface="Cambria" pitchFamily="34" charset="-122"/>
                <a:cs typeface="Cambria" pitchFamily="34" charset="-120"/>
              </a:rPr>
              <a:t>Why It Matters</a:t>
            </a:r>
            <a:endParaRPr lang="en-US" sz="1700" dirty="0">
              <a:latin typeface="Helvetica "/>
            </a:endParaRPr>
          </a:p>
        </p:txBody>
      </p:sp>
      <p:sp>
        <p:nvSpPr>
          <p:cNvPr id="20" name="Text 15"/>
          <p:cNvSpPr/>
          <p:nvPr/>
        </p:nvSpPr>
        <p:spPr>
          <a:xfrm>
            <a:off x="7772400" y="2011680"/>
            <a:ext cx="3566160" cy="2377440"/>
          </a:xfrm>
          <a:prstGeom prst="rect">
            <a:avLst/>
          </a:prstGeom>
          <a:noFill/>
          <a:ln/>
        </p:spPr>
        <p:txBody>
          <a:bodyPr wrap="square" rtlCol="0" anchor="ctr"/>
          <a:lstStyle/>
          <a:p>
            <a:pPr marL="0" indent="0">
              <a:lnSpc>
                <a:spcPts val="1800"/>
              </a:lnSpc>
              <a:buNone/>
            </a:pPr>
            <a:r>
              <a:rPr lang="en-US" sz="1300" dirty="0">
                <a:solidFill>
                  <a:srgbClr val="C9D9B8"/>
                </a:solidFill>
                <a:latin typeface="Helvetica "/>
                <a:ea typeface="Calibri" pitchFamily="34" charset="-122"/>
                <a:cs typeface="Calibri" pitchFamily="34" charset="-120"/>
              </a:rPr>
              <a:t>Smallholder farmers currently rely on paper records or memory to track harvests, sales, and payments. Digitizing this process gives the cooperative accurate data, faster payments, and a transparent audit trail for governance.</a:t>
            </a:r>
            <a:endParaRPr lang="en-US" sz="1300" dirty="0">
              <a:latin typeface="Helvetica "/>
            </a:endParaRPr>
          </a:p>
        </p:txBody>
      </p:sp>
      <p:sp>
        <p:nvSpPr>
          <p:cNvPr id="21" name="Text 16"/>
          <p:cNvSpPr/>
          <p:nvPr/>
        </p:nvSpPr>
        <p:spPr>
          <a:xfrm>
            <a:off x="640080" y="6510528"/>
            <a:ext cx="10972800" cy="274320"/>
          </a:xfrm>
          <a:prstGeom prst="rect">
            <a:avLst/>
          </a:prstGeom>
          <a:noFill/>
          <a:ln/>
        </p:spPr>
        <p:txBody>
          <a:bodyPr wrap="square" rtlCol="0" anchor="ctr"/>
          <a:lstStyle/>
          <a:p>
            <a:pPr marL="0" indent="0">
              <a:buNone/>
            </a:pPr>
            <a:r>
              <a:rPr lang="en-US" sz="950" dirty="0">
                <a:solidFill>
                  <a:srgbClr val="6B6B63"/>
                </a:solidFill>
                <a:latin typeface="Helvetica "/>
                <a:ea typeface="Calibri" pitchFamily="34" charset="-122"/>
                <a:cs typeface="Calibri" pitchFamily="34" charset="-120"/>
              </a:rPr>
              <a:t>Farmer Produce &amp; Market Supply Chain Management System   |   2 / 10</a:t>
            </a:r>
            <a:endParaRPr lang="en-US" sz="950" dirty="0">
              <a:latin typeface="Helvetica "/>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F3D22"/>
          </a:solidFill>
          <a:ln/>
        </p:spPr>
      </p:sp>
      <p:sp>
        <p:nvSpPr>
          <p:cNvPr id="3" name="Text 1"/>
          <p:cNvSpPr/>
          <p:nvPr/>
        </p:nvSpPr>
        <p:spPr>
          <a:xfrm>
            <a:off x="640080" y="128016"/>
            <a:ext cx="7315200" cy="274320"/>
          </a:xfrm>
          <a:prstGeom prst="rect">
            <a:avLst/>
          </a:prstGeom>
          <a:noFill/>
          <a:ln/>
        </p:spPr>
        <p:txBody>
          <a:bodyPr wrap="square" rtlCol="0" anchor="ctr"/>
          <a:lstStyle/>
          <a:p>
            <a:pPr marL="0" indent="0">
              <a:buNone/>
            </a:pPr>
            <a:r>
              <a:rPr lang="en-US" sz="1100" b="1" kern="0" spc="150" dirty="0">
                <a:solidFill>
                  <a:srgbClr val="D9A441"/>
                </a:solidFill>
                <a:latin typeface="Helvetica "/>
                <a:ea typeface="Calibri" pitchFamily="34" charset="-122"/>
                <a:cs typeface="Calibri" pitchFamily="34" charset="-120"/>
              </a:rPr>
              <a:t>02 · PROBLEM STATEMENT</a:t>
            </a:r>
            <a:endParaRPr lang="en-US" sz="1100" dirty="0">
              <a:latin typeface="Helvetica "/>
            </a:endParaRPr>
          </a:p>
        </p:txBody>
      </p:sp>
      <p:sp>
        <p:nvSpPr>
          <p:cNvPr id="4" name="Text 2"/>
          <p:cNvSpPr/>
          <p:nvPr/>
        </p:nvSpPr>
        <p:spPr>
          <a:xfrm>
            <a:off x="640080" y="365760"/>
            <a:ext cx="9601200" cy="548640"/>
          </a:xfrm>
          <a:prstGeom prst="rect">
            <a:avLst/>
          </a:prstGeom>
          <a:noFill/>
          <a:ln/>
        </p:spPr>
        <p:txBody>
          <a:bodyPr wrap="square" rtlCol="0" anchor="ctr"/>
          <a:lstStyle/>
          <a:p>
            <a:pPr marL="0" indent="0">
              <a:buNone/>
            </a:pPr>
            <a:r>
              <a:rPr lang="en-US" sz="2400" b="1" dirty="0">
                <a:solidFill>
                  <a:srgbClr val="FFFFFF"/>
                </a:solidFill>
                <a:latin typeface="Helvetica "/>
                <a:ea typeface="Cambria" pitchFamily="34" charset="-122"/>
                <a:cs typeface="Cambria" pitchFamily="34" charset="-120"/>
              </a:rPr>
              <a:t>The Problem</a:t>
            </a:r>
            <a:endParaRPr lang="en-US" sz="2400" dirty="0">
              <a:latin typeface="Helvetica "/>
            </a:endParaRPr>
          </a:p>
        </p:txBody>
      </p:sp>
      <p:sp>
        <p:nvSpPr>
          <p:cNvPr id="5" name="Text 3"/>
          <p:cNvSpPr/>
          <p:nvPr/>
        </p:nvSpPr>
        <p:spPr>
          <a:xfrm>
            <a:off x="10698480" y="320040"/>
            <a:ext cx="1188720" cy="320040"/>
          </a:xfrm>
          <a:prstGeom prst="rect">
            <a:avLst/>
          </a:prstGeom>
          <a:noFill/>
          <a:ln/>
        </p:spPr>
        <p:txBody>
          <a:bodyPr wrap="square" rtlCol="0" anchor="ctr"/>
          <a:lstStyle/>
          <a:p>
            <a:pPr marL="0" indent="0" algn="r">
              <a:buNone/>
            </a:pPr>
            <a:r>
              <a:rPr lang="en-US" sz="1050" dirty="0">
                <a:solidFill>
                  <a:srgbClr val="9FB48A"/>
                </a:solidFill>
                <a:latin typeface="Helvetica "/>
                <a:ea typeface="Calibri" pitchFamily="34" charset="-122"/>
                <a:cs typeface="Calibri" pitchFamily="34" charset="-120"/>
              </a:rPr>
              <a:t>DPR400210</a:t>
            </a:r>
            <a:endParaRPr lang="en-US" sz="1050" dirty="0">
              <a:latin typeface="Helvetica "/>
            </a:endParaRPr>
          </a:p>
        </p:txBody>
      </p:sp>
      <p:sp>
        <p:nvSpPr>
          <p:cNvPr id="6" name="Shape 4"/>
          <p:cNvSpPr/>
          <p:nvPr/>
        </p:nvSpPr>
        <p:spPr>
          <a:xfrm>
            <a:off x="548640" y="1280160"/>
            <a:ext cx="5760720" cy="5029200"/>
          </a:xfrm>
          <a:prstGeom prst="roundRect">
            <a:avLst>
              <a:gd name="adj" fmla="val 2182"/>
            </a:avLst>
          </a:prstGeom>
          <a:solidFill>
            <a:srgbClr val="F3F6EE"/>
          </a:solidFill>
          <a:ln/>
        </p:spPr>
      </p:sp>
      <p:pic>
        <p:nvPicPr>
          <p:cNvPr id="7" name="Image 0" descr="/home/claude/farmdb/icon_clipboard.png"/>
          <p:cNvPicPr>
            <a:picLocks noChangeAspect="1"/>
          </p:cNvPicPr>
          <p:nvPr/>
        </p:nvPicPr>
        <p:blipFill>
          <a:blip r:embed="rId3"/>
          <a:stretch>
            <a:fillRect/>
          </a:stretch>
        </p:blipFill>
        <p:spPr>
          <a:xfrm>
            <a:off x="914400" y="1737360"/>
            <a:ext cx="310896" cy="310896"/>
          </a:xfrm>
          <a:prstGeom prst="rect">
            <a:avLst/>
          </a:prstGeom>
        </p:spPr>
      </p:pic>
      <p:sp>
        <p:nvSpPr>
          <p:cNvPr id="8" name="Shape 5"/>
          <p:cNvSpPr/>
          <p:nvPr/>
        </p:nvSpPr>
        <p:spPr>
          <a:xfrm>
            <a:off x="850392" y="1673352"/>
            <a:ext cx="566928" cy="566928"/>
          </a:xfrm>
          <a:prstGeom prst="ellipse">
            <a:avLst/>
          </a:prstGeom>
          <a:solidFill>
            <a:srgbClr val="6E9B4E"/>
          </a:solidFill>
          <a:ln/>
        </p:spPr>
      </p:sp>
      <p:pic>
        <p:nvPicPr>
          <p:cNvPr id="9" name="Image 1" descr="/home/claude/farmdb/icon_clipboard.png"/>
          <p:cNvPicPr>
            <a:picLocks noChangeAspect="1"/>
          </p:cNvPicPr>
          <p:nvPr/>
        </p:nvPicPr>
        <p:blipFill>
          <a:blip r:embed="rId3"/>
          <a:stretch>
            <a:fillRect/>
          </a:stretch>
        </p:blipFill>
        <p:spPr>
          <a:xfrm>
            <a:off x="987552" y="1810512"/>
            <a:ext cx="292608" cy="292608"/>
          </a:xfrm>
          <a:prstGeom prst="rect">
            <a:avLst/>
          </a:prstGeom>
        </p:spPr>
      </p:pic>
      <p:sp>
        <p:nvSpPr>
          <p:cNvPr id="10" name="Text 6"/>
          <p:cNvSpPr/>
          <p:nvPr/>
        </p:nvSpPr>
        <p:spPr>
          <a:xfrm>
            <a:off x="1600200" y="1737360"/>
            <a:ext cx="4572000" cy="457200"/>
          </a:xfrm>
          <a:prstGeom prst="rect">
            <a:avLst/>
          </a:prstGeom>
          <a:noFill/>
          <a:ln/>
        </p:spPr>
        <p:txBody>
          <a:bodyPr wrap="square" rtlCol="0" anchor="ctr"/>
          <a:lstStyle/>
          <a:p>
            <a:pPr marL="0" indent="0">
              <a:buNone/>
            </a:pPr>
            <a:r>
              <a:rPr lang="en-US" sz="1700" b="1" dirty="0">
                <a:solidFill>
                  <a:srgbClr val="1F3D22"/>
                </a:solidFill>
                <a:latin typeface="Helvetica "/>
                <a:ea typeface="Cambria" pitchFamily="34" charset="-122"/>
                <a:cs typeface="Cambria" pitchFamily="34" charset="-120"/>
              </a:rPr>
              <a:t>Problem Definition</a:t>
            </a:r>
            <a:endParaRPr lang="en-US" sz="1700" dirty="0">
              <a:latin typeface="Helvetica "/>
            </a:endParaRPr>
          </a:p>
        </p:txBody>
      </p:sp>
      <p:sp>
        <p:nvSpPr>
          <p:cNvPr id="11" name="Text 7"/>
          <p:cNvSpPr/>
          <p:nvPr/>
        </p:nvSpPr>
        <p:spPr>
          <a:xfrm>
            <a:off x="868680" y="2423160"/>
            <a:ext cx="5120640" cy="1920240"/>
          </a:xfrm>
          <a:prstGeom prst="rect">
            <a:avLst/>
          </a:prstGeom>
          <a:noFill/>
          <a:ln/>
        </p:spPr>
        <p:txBody>
          <a:bodyPr wrap="square" rtlCol="0" anchor="ctr"/>
          <a:lstStyle/>
          <a:p>
            <a:pPr marL="0" indent="0">
              <a:lnSpc>
                <a:spcPts val="2000"/>
              </a:lnSpc>
              <a:buNone/>
            </a:pPr>
            <a:r>
              <a:rPr lang="en-US" sz="1400" dirty="0">
                <a:solidFill>
                  <a:srgbClr val="2A2A26"/>
                </a:solidFill>
                <a:latin typeface="Helvetica "/>
                <a:ea typeface="Calibri" pitchFamily="34" charset="-122"/>
                <a:cs typeface="Calibri" pitchFamily="34" charset="-120"/>
              </a:rPr>
              <a:t>Smallholder farmers lack a reliable system to track farms, harvests, and sales to buyers. Records are kept on paper or not at all, making it hard to track payments, yields, or which buyer offers the best price. Cooperative managers have no easy way to audit produce movement or sales compliance.</a:t>
            </a:r>
            <a:endParaRPr lang="en-US" sz="1400" dirty="0">
              <a:latin typeface="Helvetica "/>
            </a:endParaRPr>
          </a:p>
        </p:txBody>
      </p:sp>
      <p:sp>
        <p:nvSpPr>
          <p:cNvPr id="12" name="Shape 8"/>
          <p:cNvSpPr/>
          <p:nvPr/>
        </p:nvSpPr>
        <p:spPr>
          <a:xfrm>
            <a:off x="868680" y="4434840"/>
            <a:ext cx="5120640" cy="0"/>
          </a:xfrm>
          <a:prstGeom prst="line">
            <a:avLst/>
          </a:prstGeom>
          <a:noFill/>
          <a:ln w="12700">
            <a:solidFill>
              <a:srgbClr val="D8DECB"/>
            </a:solidFill>
            <a:prstDash val="solid"/>
          </a:ln>
        </p:spPr>
      </p:sp>
      <p:sp>
        <p:nvSpPr>
          <p:cNvPr id="13" name="Text 9"/>
          <p:cNvSpPr/>
          <p:nvPr/>
        </p:nvSpPr>
        <p:spPr>
          <a:xfrm>
            <a:off x="868680" y="4572000"/>
            <a:ext cx="4572000" cy="365760"/>
          </a:xfrm>
          <a:prstGeom prst="rect">
            <a:avLst/>
          </a:prstGeom>
          <a:noFill/>
          <a:ln/>
        </p:spPr>
        <p:txBody>
          <a:bodyPr wrap="square" rtlCol="0" anchor="ctr"/>
          <a:lstStyle/>
          <a:p>
            <a:pPr marL="0" indent="0">
              <a:buNone/>
            </a:pPr>
            <a:r>
              <a:rPr lang="en-US" sz="1450" b="1" dirty="0">
                <a:solidFill>
                  <a:srgbClr val="1F3D22"/>
                </a:solidFill>
                <a:latin typeface="Helvetica "/>
                <a:ea typeface="Cambria" pitchFamily="34" charset="-122"/>
                <a:cs typeface="Cambria" pitchFamily="34" charset="-120"/>
              </a:rPr>
              <a:t>Context of Use</a:t>
            </a:r>
            <a:endParaRPr lang="en-US" sz="1450" dirty="0">
              <a:latin typeface="Helvetica "/>
            </a:endParaRPr>
          </a:p>
        </p:txBody>
      </p:sp>
      <p:sp>
        <p:nvSpPr>
          <p:cNvPr id="14" name="Text 10"/>
          <p:cNvSpPr/>
          <p:nvPr/>
        </p:nvSpPr>
        <p:spPr>
          <a:xfrm>
            <a:off x="868680" y="4956048"/>
            <a:ext cx="5120640" cy="1097280"/>
          </a:xfrm>
          <a:prstGeom prst="rect">
            <a:avLst/>
          </a:prstGeom>
          <a:noFill/>
          <a:ln/>
        </p:spPr>
        <p:txBody>
          <a:bodyPr wrap="square" rtlCol="0" anchor="ctr"/>
          <a:lstStyle/>
          <a:p>
            <a:pPr marL="0" indent="0">
              <a:lnSpc>
                <a:spcPts val="1700"/>
              </a:lnSpc>
              <a:buNone/>
            </a:pPr>
            <a:r>
              <a:rPr lang="en-US" sz="1250" dirty="0">
                <a:solidFill>
                  <a:srgbClr val="6B6B63"/>
                </a:solidFill>
                <a:latin typeface="Helvetica "/>
                <a:ea typeface="Calibri" pitchFamily="34" charset="-122"/>
                <a:cs typeface="Calibri" pitchFamily="34" charset="-120"/>
              </a:rPr>
              <a:t>A regional cooperative office where staff register farmers, log harvests, record sales, and track payments under admin oversight.</a:t>
            </a:r>
            <a:endParaRPr lang="en-US" sz="1250" dirty="0">
              <a:latin typeface="Helvetica "/>
            </a:endParaRPr>
          </a:p>
        </p:txBody>
      </p:sp>
      <p:sp>
        <p:nvSpPr>
          <p:cNvPr id="15" name="Shape 11"/>
          <p:cNvSpPr/>
          <p:nvPr/>
        </p:nvSpPr>
        <p:spPr>
          <a:xfrm>
            <a:off x="6537960" y="1280160"/>
            <a:ext cx="5120640" cy="5029200"/>
          </a:xfrm>
          <a:prstGeom prst="roundRect">
            <a:avLst>
              <a:gd name="adj" fmla="val 2182"/>
            </a:avLst>
          </a:prstGeom>
          <a:solidFill>
            <a:srgbClr val="1F3D22"/>
          </a:solidFill>
          <a:ln/>
        </p:spPr>
      </p:sp>
      <p:sp>
        <p:nvSpPr>
          <p:cNvPr id="16" name="Text 12"/>
          <p:cNvSpPr/>
          <p:nvPr/>
        </p:nvSpPr>
        <p:spPr>
          <a:xfrm>
            <a:off x="6858000" y="1508760"/>
            <a:ext cx="4389120" cy="411480"/>
          </a:xfrm>
          <a:prstGeom prst="rect">
            <a:avLst/>
          </a:prstGeom>
          <a:noFill/>
          <a:ln/>
        </p:spPr>
        <p:txBody>
          <a:bodyPr wrap="square" rtlCol="0" anchor="ctr"/>
          <a:lstStyle/>
          <a:p>
            <a:pPr marL="0" indent="0">
              <a:buNone/>
            </a:pPr>
            <a:r>
              <a:rPr lang="en-US" sz="1600" b="1" dirty="0">
                <a:solidFill>
                  <a:srgbClr val="FFFFFF"/>
                </a:solidFill>
                <a:latin typeface="Helvetica "/>
                <a:ea typeface="Cambria" pitchFamily="34" charset="-122"/>
                <a:cs typeface="Cambria" pitchFamily="34" charset="-120"/>
              </a:rPr>
              <a:t>Consequences of the Gap</a:t>
            </a:r>
            <a:endParaRPr lang="en-US" sz="1600" dirty="0">
              <a:latin typeface="Helvetica "/>
            </a:endParaRPr>
          </a:p>
        </p:txBody>
      </p:sp>
      <p:sp>
        <p:nvSpPr>
          <p:cNvPr id="17" name="Shape 13"/>
          <p:cNvSpPr/>
          <p:nvPr/>
        </p:nvSpPr>
        <p:spPr>
          <a:xfrm>
            <a:off x="6858000" y="2148840"/>
            <a:ext cx="128016" cy="128016"/>
          </a:xfrm>
          <a:prstGeom prst="ellipse">
            <a:avLst/>
          </a:prstGeom>
          <a:solidFill>
            <a:srgbClr val="D9A441"/>
          </a:solidFill>
          <a:ln/>
        </p:spPr>
      </p:sp>
      <p:sp>
        <p:nvSpPr>
          <p:cNvPr id="18" name="Text 14"/>
          <p:cNvSpPr/>
          <p:nvPr/>
        </p:nvSpPr>
        <p:spPr>
          <a:xfrm>
            <a:off x="7150608" y="1993392"/>
            <a:ext cx="4343400" cy="594360"/>
          </a:xfrm>
          <a:prstGeom prst="rect">
            <a:avLst/>
          </a:prstGeom>
          <a:noFill/>
          <a:ln/>
        </p:spPr>
        <p:txBody>
          <a:bodyPr wrap="square" rtlCol="0" anchor="ctr"/>
          <a:lstStyle/>
          <a:p>
            <a:pPr marL="0" indent="0">
              <a:lnSpc>
                <a:spcPts val="1700"/>
              </a:lnSpc>
              <a:buNone/>
            </a:pPr>
            <a:r>
              <a:rPr lang="en-US" sz="1300" dirty="0">
                <a:solidFill>
                  <a:srgbClr val="E4E9DC"/>
                </a:solidFill>
                <a:latin typeface="Helvetica "/>
                <a:ea typeface="Calibri" pitchFamily="34" charset="-122"/>
                <a:cs typeface="Calibri" pitchFamily="34" charset="-120"/>
              </a:rPr>
              <a:t>Payment disputes with no record to verify who was paid what</a:t>
            </a:r>
            <a:endParaRPr lang="en-US" sz="1300" dirty="0">
              <a:latin typeface="Helvetica "/>
            </a:endParaRPr>
          </a:p>
        </p:txBody>
      </p:sp>
      <p:sp>
        <p:nvSpPr>
          <p:cNvPr id="19" name="Shape 15"/>
          <p:cNvSpPr/>
          <p:nvPr/>
        </p:nvSpPr>
        <p:spPr>
          <a:xfrm>
            <a:off x="6858000" y="3044952"/>
            <a:ext cx="128016" cy="128016"/>
          </a:xfrm>
          <a:prstGeom prst="ellipse">
            <a:avLst/>
          </a:prstGeom>
          <a:solidFill>
            <a:srgbClr val="D9A441"/>
          </a:solidFill>
          <a:ln/>
        </p:spPr>
      </p:sp>
      <p:sp>
        <p:nvSpPr>
          <p:cNvPr id="20" name="Text 16"/>
          <p:cNvSpPr/>
          <p:nvPr/>
        </p:nvSpPr>
        <p:spPr>
          <a:xfrm>
            <a:off x="7150608" y="2889504"/>
            <a:ext cx="4343400" cy="594360"/>
          </a:xfrm>
          <a:prstGeom prst="rect">
            <a:avLst/>
          </a:prstGeom>
          <a:noFill/>
          <a:ln/>
        </p:spPr>
        <p:txBody>
          <a:bodyPr wrap="square" rtlCol="0" anchor="ctr"/>
          <a:lstStyle/>
          <a:p>
            <a:pPr marL="0" indent="0">
              <a:lnSpc>
                <a:spcPts val="1700"/>
              </a:lnSpc>
              <a:buNone/>
            </a:pPr>
            <a:r>
              <a:rPr lang="en-US" sz="1300" dirty="0">
                <a:solidFill>
                  <a:srgbClr val="E4E9DC"/>
                </a:solidFill>
                <a:latin typeface="Helvetica "/>
                <a:ea typeface="Calibri" pitchFamily="34" charset="-122"/>
                <a:cs typeface="Calibri" pitchFamily="34" charset="-120"/>
              </a:rPr>
              <a:t>No visibility into which crops or buyers are most profitable</a:t>
            </a:r>
            <a:endParaRPr lang="en-US" sz="1300" dirty="0">
              <a:latin typeface="Helvetica "/>
            </a:endParaRPr>
          </a:p>
        </p:txBody>
      </p:sp>
      <p:sp>
        <p:nvSpPr>
          <p:cNvPr id="21" name="Shape 17"/>
          <p:cNvSpPr/>
          <p:nvPr/>
        </p:nvSpPr>
        <p:spPr>
          <a:xfrm>
            <a:off x="6858000" y="3941064"/>
            <a:ext cx="128016" cy="128016"/>
          </a:xfrm>
          <a:prstGeom prst="ellipse">
            <a:avLst/>
          </a:prstGeom>
          <a:solidFill>
            <a:srgbClr val="D9A441"/>
          </a:solidFill>
          <a:ln/>
        </p:spPr>
      </p:sp>
      <p:sp>
        <p:nvSpPr>
          <p:cNvPr id="22" name="Text 18"/>
          <p:cNvSpPr/>
          <p:nvPr/>
        </p:nvSpPr>
        <p:spPr>
          <a:xfrm>
            <a:off x="7150608" y="3785616"/>
            <a:ext cx="4343400" cy="594360"/>
          </a:xfrm>
          <a:prstGeom prst="rect">
            <a:avLst/>
          </a:prstGeom>
          <a:noFill/>
          <a:ln/>
        </p:spPr>
        <p:txBody>
          <a:bodyPr wrap="square" rtlCol="0" anchor="ctr"/>
          <a:lstStyle/>
          <a:p>
            <a:pPr marL="0" indent="0">
              <a:lnSpc>
                <a:spcPts val="1700"/>
              </a:lnSpc>
              <a:buNone/>
            </a:pPr>
            <a:r>
              <a:rPr lang="en-US" sz="1300" dirty="0">
                <a:solidFill>
                  <a:srgbClr val="E4E9DC"/>
                </a:solidFill>
                <a:latin typeface="Helvetica "/>
                <a:ea typeface="Calibri" pitchFamily="34" charset="-122"/>
                <a:cs typeface="Calibri" pitchFamily="34" charset="-120"/>
              </a:rPr>
              <a:t>No audit trail for cooperative governance or compliance</a:t>
            </a:r>
            <a:endParaRPr lang="en-US" sz="1300" dirty="0">
              <a:latin typeface="Helvetica "/>
            </a:endParaRPr>
          </a:p>
        </p:txBody>
      </p:sp>
      <p:sp>
        <p:nvSpPr>
          <p:cNvPr id="23" name="Shape 19"/>
          <p:cNvSpPr/>
          <p:nvPr/>
        </p:nvSpPr>
        <p:spPr>
          <a:xfrm>
            <a:off x="6858000" y="4837176"/>
            <a:ext cx="128016" cy="128016"/>
          </a:xfrm>
          <a:prstGeom prst="ellipse">
            <a:avLst/>
          </a:prstGeom>
          <a:solidFill>
            <a:srgbClr val="D9A441"/>
          </a:solidFill>
          <a:ln/>
        </p:spPr>
      </p:sp>
      <p:sp>
        <p:nvSpPr>
          <p:cNvPr id="24" name="Text 20"/>
          <p:cNvSpPr/>
          <p:nvPr/>
        </p:nvSpPr>
        <p:spPr>
          <a:xfrm>
            <a:off x="7150608" y="4681728"/>
            <a:ext cx="4343400" cy="594360"/>
          </a:xfrm>
          <a:prstGeom prst="rect">
            <a:avLst/>
          </a:prstGeom>
          <a:noFill/>
          <a:ln/>
        </p:spPr>
        <p:txBody>
          <a:bodyPr wrap="square" rtlCol="0" anchor="ctr"/>
          <a:lstStyle/>
          <a:p>
            <a:pPr marL="0" indent="0">
              <a:lnSpc>
                <a:spcPts val="1700"/>
              </a:lnSpc>
              <a:buNone/>
            </a:pPr>
            <a:r>
              <a:rPr lang="en-US" sz="1300" dirty="0">
                <a:solidFill>
                  <a:srgbClr val="E4E9DC"/>
                </a:solidFill>
                <a:latin typeface="Helvetica "/>
                <a:ea typeface="Calibri" pitchFamily="34" charset="-122"/>
                <a:cs typeface="Calibri" pitchFamily="34" charset="-120"/>
              </a:rPr>
              <a:t>Manual, error-prone tracking of harvests and inventory</a:t>
            </a:r>
            <a:endParaRPr lang="en-US" sz="1300" dirty="0">
              <a:latin typeface="Helvetica "/>
            </a:endParaRPr>
          </a:p>
        </p:txBody>
      </p:sp>
      <p:sp>
        <p:nvSpPr>
          <p:cNvPr id="25" name="Text 21"/>
          <p:cNvSpPr/>
          <p:nvPr/>
        </p:nvSpPr>
        <p:spPr>
          <a:xfrm>
            <a:off x="640080" y="6510528"/>
            <a:ext cx="10972800" cy="274320"/>
          </a:xfrm>
          <a:prstGeom prst="rect">
            <a:avLst/>
          </a:prstGeom>
          <a:noFill/>
          <a:ln/>
        </p:spPr>
        <p:txBody>
          <a:bodyPr wrap="square" rtlCol="0" anchor="ctr"/>
          <a:lstStyle/>
          <a:p>
            <a:pPr marL="0" indent="0">
              <a:buNone/>
            </a:pPr>
            <a:r>
              <a:rPr lang="en-US" sz="950" dirty="0">
                <a:solidFill>
                  <a:srgbClr val="6B6B63"/>
                </a:solidFill>
                <a:latin typeface="Helvetica "/>
                <a:ea typeface="Calibri" pitchFamily="34" charset="-122"/>
                <a:cs typeface="Calibri" pitchFamily="34" charset="-120"/>
              </a:rPr>
              <a:t>Farmer Produce &amp; Market Supply Chain Management System   |   3 / 10</a:t>
            </a:r>
            <a:endParaRPr lang="en-US" sz="950" dirty="0">
              <a:latin typeface="Helvetica "/>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F3D22"/>
          </a:solidFill>
          <a:ln/>
        </p:spPr>
      </p:sp>
      <p:sp>
        <p:nvSpPr>
          <p:cNvPr id="3" name="Text 1"/>
          <p:cNvSpPr/>
          <p:nvPr/>
        </p:nvSpPr>
        <p:spPr>
          <a:xfrm>
            <a:off x="640080" y="128016"/>
            <a:ext cx="7315200" cy="274320"/>
          </a:xfrm>
          <a:prstGeom prst="rect">
            <a:avLst/>
          </a:prstGeom>
          <a:noFill/>
          <a:ln/>
        </p:spPr>
        <p:txBody>
          <a:bodyPr wrap="square" rtlCol="0" anchor="ctr"/>
          <a:lstStyle/>
          <a:p>
            <a:pPr marL="0" indent="0">
              <a:buNone/>
            </a:pPr>
            <a:r>
              <a:rPr lang="en-US" sz="1100" b="1" kern="0" spc="150" dirty="0">
                <a:solidFill>
                  <a:srgbClr val="D9A441"/>
                </a:solidFill>
                <a:latin typeface="Helvetica "/>
                <a:ea typeface="Calibri" pitchFamily="34" charset="-122"/>
                <a:cs typeface="Calibri" pitchFamily="34" charset="-120"/>
              </a:rPr>
              <a:t>03 · APPROACH</a:t>
            </a:r>
            <a:endParaRPr lang="en-US" sz="1100" dirty="0">
              <a:latin typeface="Helvetica "/>
            </a:endParaRPr>
          </a:p>
        </p:txBody>
      </p:sp>
      <p:sp>
        <p:nvSpPr>
          <p:cNvPr id="4" name="Text 2"/>
          <p:cNvSpPr/>
          <p:nvPr/>
        </p:nvSpPr>
        <p:spPr>
          <a:xfrm>
            <a:off x="640080" y="365760"/>
            <a:ext cx="9601200" cy="548640"/>
          </a:xfrm>
          <a:prstGeom prst="rect">
            <a:avLst/>
          </a:prstGeom>
          <a:noFill/>
          <a:ln/>
        </p:spPr>
        <p:txBody>
          <a:bodyPr wrap="square" rtlCol="0" anchor="ctr"/>
          <a:lstStyle/>
          <a:p>
            <a:pPr marL="0" indent="0">
              <a:buNone/>
            </a:pPr>
            <a:r>
              <a:rPr lang="en-US" sz="2400" b="1" dirty="0">
                <a:solidFill>
                  <a:srgbClr val="FFFFFF"/>
                </a:solidFill>
                <a:latin typeface="Helvetica "/>
                <a:ea typeface="Cambria" pitchFamily="34" charset="-122"/>
                <a:cs typeface="Cambria" pitchFamily="34" charset="-120"/>
              </a:rPr>
              <a:t>Methodology</a:t>
            </a:r>
            <a:endParaRPr lang="en-US" sz="2400" dirty="0">
              <a:latin typeface="Helvetica "/>
            </a:endParaRPr>
          </a:p>
        </p:txBody>
      </p:sp>
      <p:sp>
        <p:nvSpPr>
          <p:cNvPr id="5" name="Text 3"/>
          <p:cNvSpPr/>
          <p:nvPr/>
        </p:nvSpPr>
        <p:spPr>
          <a:xfrm>
            <a:off x="10698480" y="320040"/>
            <a:ext cx="1188720" cy="320040"/>
          </a:xfrm>
          <a:prstGeom prst="rect">
            <a:avLst/>
          </a:prstGeom>
          <a:noFill/>
          <a:ln/>
        </p:spPr>
        <p:txBody>
          <a:bodyPr wrap="square" rtlCol="0" anchor="ctr"/>
          <a:lstStyle/>
          <a:p>
            <a:pPr marL="0" indent="0" algn="r">
              <a:buNone/>
            </a:pPr>
            <a:r>
              <a:rPr lang="en-US" sz="1050" dirty="0">
                <a:solidFill>
                  <a:srgbClr val="9FB48A"/>
                </a:solidFill>
                <a:latin typeface="Helvetica "/>
                <a:ea typeface="Calibri" pitchFamily="34" charset="-122"/>
                <a:cs typeface="Calibri" pitchFamily="34" charset="-120"/>
              </a:rPr>
              <a:t>DPR400210</a:t>
            </a:r>
            <a:endParaRPr lang="en-US" sz="1050" dirty="0">
              <a:latin typeface="Helvetica "/>
            </a:endParaRPr>
          </a:p>
        </p:txBody>
      </p:sp>
      <p:sp>
        <p:nvSpPr>
          <p:cNvPr id="6" name="Text 4"/>
          <p:cNvSpPr/>
          <p:nvPr/>
        </p:nvSpPr>
        <p:spPr>
          <a:xfrm>
            <a:off x="640080" y="1188720"/>
            <a:ext cx="10789920" cy="411480"/>
          </a:xfrm>
          <a:prstGeom prst="rect">
            <a:avLst/>
          </a:prstGeom>
          <a:noFill/>
          <a:ln/>
        </p:spPr>
        <p:txBody>
          <a:bodyPr wrap="square" rtlCol="0" anchor="ctr"/>
          <a:lstStyle/>
          <a:p>
            <a:pPr marL="0" indent="0">
              <a:buNone/>
            </a:pPr>
            <a:r>
              <a:rPr lang="en-US" sz="1400" i="1" dirty="0">
                <a:solidFill>
                  <a:srgbClr val="6B6B63"/>
                </a:solidFill>
                <a:latin typeface="Helvetica "/>
                <a:ea typeface="Calibri" pitchFamily="34" charset="-122"/>
                <a:cs typeface="Calibri" pitchFamily="34" charset="-120"/>
              </a:rPr>
              <a:t>An eight-phase capstone workflow, from problem definition to a working APEX application.</a:t>
            </a:r>
            <a:endParaRPr lang="en-US" sz="1400" dirty="0">
              <a:latin typeface="Helvetica "/>
            </a:endParaRPr>
          </a:p>
        </p:txBody>
      </p:sp>
      <p:sp>
        <p:nvSpPr>
          <p:cNvPr id="7" name="Shape 5"/>
          <p:cNvSpPr/>
          <p:nvPr/>
        </p:nvSpPr>
        <p:spPr>
          <a:xfrm>
            <a:off x="640080" y="2194560"/>
            <a:ext cx="1298448" cy="1371600"/>
          </a:xfrm>
          <a:prstGeom prst="roundRect">
            <a:avLst>
              <a:gd name="adj" fmla="val 7042"/>
            </a:avLst>
          </a:prstGeom>
          <a:solidFill>
            <a:srgbClr val="6E9B4E"/>
          </a:solidFill>
          <a:ln/>
        </p:spPr>
      </p:sp>
      <p:sp>
        <p:nvSpPr>
          <p:cNvPr id="8" name="Text 6"/>
          <p:cNvSpPr/>
          <p:nvPr/>
        </p:nvSpPr>
        <p:spPr>
          <a:xfrm>
            <a:off x="640080" y="2304288"/>
            <a:ext cx="1298448" cy="365760"/>
          </a:xfrm>
          <a:prstGeom prst="rect">
            <a:avLst/>
          </a:prstGeom>
          <a:noFill/>
          <a:ln/>
        </p:spPr>
        <p:txBody>
          <a:bodyPr wrap="square" rtlCol="0" anchor="ctr"/>
          <a:lstStyle/>
          <a:p>
            <a:pPr marL="0" indent="0" algn="ctr">
              <a:buNone/>
            </a:pPr>
            <a:r>
              <a:rPr lang="en-US" sz="2000" b="1" dirty="0">
                <a:solidFill>
                  <a:srgbClr val="FFFFFF"/>
                </a:solidFill>
                <a:latin typeface="Helvetica "/>
                <a:ea typeface="Cambria" pitchFamily="34" charset="-122"/>
                <a:cs typeface="Cambria" pitchFamily="34" charset="-120"/>
              </a:rPr>
              <a:t>1</a:t>
            </a:r>
            <a:endParaRPr lang="en-US" sz="2000" dirty="0">
              <a:latin typeface="Helvetica "/>
            </a:endParaRPr>
          </a:p>
        </p:txBody>
      </p:sp>
      <p:sp>
        <p:nvSpPr>
          <p:cNvPr id="9" name="Text 7"/>
          <p:cNvSpPr/>
          <p:nvPr/>
        </p:nvSpPr>
        <p:spPr>
          <a:xfrm>
            <a:off x="694944" y="2761488"/>
            <a:ext cx="1188720" cy="731520"/>
          </a:xfrm>
          <a:prstGeom prst="rect">
            <a:avLst/>
          </a:prstGeom>
          <a:noFill/>
          <a:ln/>
        </p:spPr>
        <p:txBody>
          <a:bodyPr wrap="square" rtlCol="0" anchor="ctr"/>
          <a:lstStyle/>
          <a:p>
            <a:pPr marL="0" indent="0" algn="ctr">
              <a:lnSpc>
                <a:spcPts val="1300"/>
              </a:lnSpc>
              <a:buNone/>
            </a:pPr>
            <a:r>
              <a:rPr lang="en-US" sz="1050" dirty="0">
                <a:solidFill>
                  <a:srgbClr val="FFFFFF"/>
                </a:solidFill>
                <a:latin typeface="Helvetica "/>
                <a:ea typeface="Calibri" pitchFamily="34" charset="-122"/>
                <a:cs typeface="Calibri" pitchFamily="34" charset="-120"/>
              </a:rPr>
              <a:t>Problem Statement</a:t>
            </a:r>
            <a:endParaRPr lang="en-US" sz="1050" dirty="0">
              <a:latin typeface="Helvetica "/>
            </a:endParaRPr>
          </a:p>
        </p:txBody>
      </p:sp>
      <p:sp>
        <p:nvSpPr>
          <p:cNvPr id="10" name="Shape 8"/>
          <p:cNvSpPr/>
          <p:nvPr/>
        </p:nvSpPr>
        <p:spPr>
          <a:xfrm>
            <a:off x="1938528" y="2880360"/>
            <a:ext cx="137160" cy="0"/>
          </a:xfrm>
          <a:prstGeom prst="line">
            <a:avLst/>
          </a:prstGeom>
          <a:noFill/>
          <a:ln w="19050">
            <a:solidFill>
              <a:srgbClr val="6B6B63"/>
            </a:solidFill>
            <a:prstDash val="solid"/>
            <a:tailEnd type="triangle"/>
          </a:ln>
        </p:spPr>
      </p:sp>
      <p:sp>
        <p:nvSpPr>
          <p:cNvPr id="11" name="Shape 9"/>
          <p:cNvSpPr/>
          <p:nvPr/>
        </p:nvSpPr>
        <p:spPr>
          <a:xfrm>
            <a:off x="2075688" y="2194560"/>
            <a:ext cx="1298448" cy="1371600"/>
          </a:xfrm>
          <a:prstGeom prst="roundRect">
            <a:avLst>
              <a:gd name="adj" fmla="val 7042"/>
            </a:avLst>
          </a:prstGeom>
          <a:solidFill>
            <a:srgbClr val="1F3D22"/>
          </a:solidFill>
          <a:ln/>
        </p:spPr>
      </p:sp>
      <p:sp>
        <p:nvSpPr>
          <p:cNvPr id="12" name="Text 10"/>
          <p:cNvSpPr/>
          <p:nvPr/>
        </p:nvSpPr>
        <p:spPr>
          <a:xfrm>
            <a:off x="2075688" y="2304288"/>
            <a:ext cx="1298448" cy="365760"/>
          </a:xfrm>
          <a:prstGeom prst="rect">
            <a:avLst/>
          </a:prstGeom>
          <a:noFill/>
          <a:ln/>
        </p:spPr>
        <p:txBody>
          <a:bodyPr wrap="square" rtlCol="0" anchor="ctr"/>
          <a:lstStyle/>
          <a:p>
            <a:pPr marL="0" indent="0" algn="ctr">
              <a:buNone/>
            </a:pPr>
            <a:r>
              <a:rPr lang="en-US" sz="2000" b="1" dirty="0">
                <a:solidFill>
                  <a:srgbClr val="FFFFFF"/>
                </a:solidFill>
                <a:latin typeface="Helvetica "/>
                <a:ea typeface="Cambria" pitchFamily="34" charset="-122"/>
                <a:cs typeface="Cambria" pitchFamily="34" charset="-120"/>
              </a:rPr>
              <a:t>2</a:t>
            </a:r>
            <a:endParaRPr lang="en-US" sz="2000" dirty="0">
              <a:latin typeface="Helvetica "/>
            </a:endParaRPr>
          </a:p>
        </p:txBody>
      </p:sp>
      <p:sp>
        <p:nvSpPr>
          <p:cNvPr id="13" name="Text 11"/>
          <p:cNvSpPr/>
          <p:nvPr/>
        </p:nvSpPr>
        <p:spPr>
          <a:xfrm>
            <a:off x="2130552" y="2761488"/>
            <a:ext cx="1188720" cy="731520"/>
          </a:xfrm>
          <a:prstGeom prst="rect">
            <a:avLst/>
          </a:prstGeom>
          <a:noFill/>
          <a:ln/>
        </p:spPr>
        <p:txBody>
          <a:bodyPr wrap="square" rtlCol="0" anchor="ctr"/>
          <a:lstStyle/>
          <a:p>
            <a:pPr marL="0" indent="0" algn="ctr">
              <a:lnSpc>
                <a:spcPts val="1300"/>
              </a:lnSpc>
              <a:buNone/>
            </a:pPr>
            <a:r>
              <a:rPr lang="en-US" sz="1050" dirty="0">
                <a:solidFill>
                  <a:srgbClr val="FFFFFF"/>
                </a:solidFill>
                <a:latin typeface="Helvetica "/>
                <a:ea typeface="Calibri" pitchFamily="34" charset="-122"/>
                <a:cs typeface="Calibri" pitchFamily="34" charset="-120"/>
              </a:rPr>
              <a:t>Business Process</a:t>
            </a:r>
            <a:endParaRPr lang="en-US" sz="1050" dirty="0">
              <a:latin typeface="Helvetica "/>
            </a:endParaRPr>
          </a:p>
          <a:p>
            <a:pPr marL="0" indent="0" algn="ctr">
              <a:lnSpc>
                <a:spcPts val="1300"/>
              </a:lnSpc>
              <a:buNone/>
            </a:pPr>
            <a:r>
              <a:rPr lang="en-US" sz="1050" dirty="0">
                <a:solidFill>
                  <a:srgbClr val="FFFFFF"/>
                </a:solidFill>
                <a:latin typeface="Helvetica "/>
                <a:ea typeface="Calibri" pitchFamily="34" charset="-122"/>
                <a:cs typeface="Calibri" pitchFamily="34" charset="-120"/>
              </a:rPr>
              <a:t>Modeling (MIS)</a:t>
            </a:r>
            <a:endParaRPr lang="en-US" sz="1050" dirty="0">
              <a:latin typeface="Helvetica "/>
            </a:endParaRPr>
          </a:p>
        </p:txBody>
      </p:sp>
      <p:sp>
        <p:nvSpPr>
          <p:cNvPr id="14" name="Shape 12"/>
          <p:cNvSpPr/>
          <p:nvPr/>
        </p:nvSpPr>
        <p:spPr>
          <a:xfrm>
            <a:off x="3374136" y="2880360"/>
            <a:ext cx="137160" cy="0"/>
          </a:xfrm>
          <a:prstGeom prst="line">
            <a:avLst/>
          </a:prstGeom>
          <a:noFill/>
          <a:ln w="19050">
            <a:solidFill>
              <a:srgbClr val="6B6B63"/>
            </a:solidFill>
            <a:prstDash val="solid"/>
            <a:tailEnd type="triangle"/>
          </a:ln>
        </p:spPr>
      </p:sp>
      <p:sp>
        <p:nvSpPr>
          <p:cNvPr id="15" name="Shape 13"/>
          <p:cNvSpPr/>
          <p:nvPr/>
        </p:nvSpPr>
        <p:spPr>
          <a:xfrm>
            <a:off x="3511296" y="2194560"/>
            <a:ext cx="1298448" cy="1371600"/>
          </a:xfrm>
          <a:prstGeom prst="roundRect">
            <a:avLst>
              <a:gd name="adj" fmla="val 7042"/>
            </a:avLst>
          </a:prstGeom>
          <a:solidFill>
            <a:srgbClr val="6E9B4E"/>
          </a:solidFill>
          <a:ln/>
        </p:spPr>
      </p:sp>
      <p:sp>
        <p:nvSpPr>
          <p:cNvPr id="16" name="Text 14"/>
          <p:cNvSpPr/>
          <p:nvPr/>
        </p:nvSpPr>
        <p:spPr>
          <a:xfrm>
            <a:off x="3511296" y="2304288"/>
            <a:ext cx="1298448" cy="365760"/>
          </a:xfrm>
          <a:prstGeom prst="rect">
            <a:avLst/>
          </a:prstGeom>
          <a:noFill/>
          <a:ln/>
        </p:spPr>
        <p:txBody>
          <a:bodyPr wrap="square" rtlCol="0" anchor="ctr"/>
          <a:lstStyle/>
          <a:p>
            <a:pPr marL="0" indent="0" algn="ctr">
              <a:buNone/>
            </a:pPr>
            <a:r>
              <a:rPr lang="en-US" sz="2000" b="1" dirty="0">
                <a:solidFill>
                  <a:srgbClr val="FFFFFF"/>
                </a:solidFill>
                <a:latin typeface="Helvetica "/>
                <a:ea typeface="Cambria" pitchFamily="34" charset="-122"/>
                <a:cs typeface="Cambria" pitchFamily="34" charset="-120"/>
              </a:rPr>
              <a:t>3</a:t>
            </a:r>
            <a:endParaRPr lang="en-US" sz="2000" dirty="0">
              <a:latin typeface="Helvetica "/>
            </a:endParaRPr>
          </a:p>
        </p:txBody>
      </p:sp>
      <p:sp>
        <p:nvSpPr>
          <p:cNvPr id="17" name="Text 15"/>
          <p:cNvSpPr/>
          <p:nvPr/>
        </p:nvSpPr>
        <p:spPr>
          <a:xfrm>
            <a:off x="3566160" y="2761488"/>
            <a:ext cx="1188720" cy="731520"/>
          </a:xfrm>
          <a:prstGeom prst="rect">
            <a:avLst/>
          </a:prstGeom>
          <a:noFill/>
          <a:ln/>
        </p:spPr>
        <p:txBody>
          <a:bodyPr wrap="square" rtlCol="0" anchor="ctr"/>
          <a:lstStyle/>
          <a:p>
            <a:pPr marL="0" indent="0" algn="ctr">
              <a:lnSpc>
                <a:spcPts val="1300"/>
              </a:lnSpc>
              <a:buNone/>
            </a:pPr>
            <a:r>
              <a:rPr lang="en-US" sz="1050" dirty="0">
                <a:solidFill>
                  <a:srgbClr val="FFFFFF"/>
                </a:solidFill>
                <a:latin typeface="Helvetica "/>
                <a:ea typeface="Calibri" pitchFamily="34" charset="-122"/>
                <a:cs typeface="Calibri" pitchFamily="34" charset="-120"/>
              </a:rPr>
              <a:t>ERD &amp; 3NF</a:t>
            </a:r>
            <a:endParaRPr lang="en-US" sz="1050" dirty="0">
              <a:latin typeface="Helvetica "/>
            </a:endParaRPr>
          </a:p>
          <a:p>
            <a:pPr marL="0" indent="0" algn="ctr">
              <a:lnSpc>
                <a:spcPts val="1300"/>
              </a:lnSpc>
              <a:buNone/>
            </a:pPr>
            <a:r>
              <a:rPr lang="en-US" sz="1050" dirty="0">
                <a:solidFill>
                  <a:srgbClr val="FFFFFF"/>
                </a:solidFill>
                <a:latin typeface="Helvetica "/>
                <a:ea typeface="Calibri" pitchFamily="34" charset="-122"/>
                <a:cs typeface="Calibri" pitchFamily="34" charset="-120"/>
              </a:rPr>
              <a:t>Normalization</a:t>
            </a:r>
            <a:endParaRPr lang="en-US" sz="1050" dirty="0">
              <a:latin typeface="Helvetica "/>
            </a:endParaRPr>
          </a:p>
        </p:txBody>
      </p:sp>
      <p:sp>
        <p:nvSpPr>
          <p:cNvPr id="18" name="Shape 16"/>
          <p:cNvSpPr/>
          <p:nvPr/>
        </p:nvSpPr>
        <p:spPr>
          <a:xfrm>
            <a:off x="4809744" y="2880360"/>
            <a:ext cx="137160" cy="0"/>
          </a:xfrm>
          <a:prstGeom prst="line">
            <a:avLst/>
          </a:prstGeom>
          <a:noFill/>
          <a:ln w="19050">
            <a:solidFill>
              <a:srgbClr val="6B6B63"/>
            </a:solidFill>
            <a:prstDash val="solid"/>
            <a:tailEnd type="triangle"/>
          </a:ln>
        </p:spPr>
      </p:sp>
      <p:sp>
        <p:nvSpPr>
          <p:cNvPr id="19" name="Shape 17"/>
          <p:cNvSpPr/>
          <p:nvPr/>
        </p:nvSpPr>
        <p:spPr>
          <a:xfrm>
            <a:off x="4946904" y="2194560"/>
            <a:ext cx="1298448" cy="1371600"/>
          </a:xfrm>
          <a:prstGeom prst="roundRect">
            <a:avLst>
              <a:gd name="adj" fmla="val 7042"/>
            </a:avLst>
          </a:prstGeom>
          <a:solidFill>
            <a:srgbClr val="1F3D22"/>
          </a:solidFill>
          <a:ln/>
        </p:spPr>
      </p:sp>
      <p:sp>
        <p:nvSpPr>
          <p:cNvPr id="20" name="Text 18"/>
          <p:cNvSpPr/>
          <p:nvPr/>
        </p:nvSpPr>
        <p:spPr>
          <a:xfrm>
            <a:off x="4946904" y="2304288"/>
            <a:ext cx="1298448" cy="365760"/>
          </a:xfrm>
          <a:prstGeom prst="rect">
            <a:avLst/>
          </a:prstGeom>
          <a:noFill/>
          <a:ln/>
        </p:spPr>
        <p:txBody>
          <a:bodyPr wrap="square" rtlCol="0" anchor="ctr"/>
          <a:lstStyle/>
          <a:p>
            <a:pPr marL="0" indent="0" algn="ctr">
              <a:buNone/>
            </a:pPr>
            <a:r>
              <a:rPr lang="en-US" sz="2000" b="1" dirty="0">
                <a:solidFill>
                  <a:srgbClr val="FFFFFF"/>
                </a:solidFill>
                <a:latin typeface="Helvetica "/>
                <a:ea typeface="Cambria" pitchFamily="34" charset="-122"/>
                <a:cs typeface="Cambria" pitchFamily="34" charset="-120"/>
              </a:rPr>
              <a:t>4</a:t>
            </a:r>
            <a:endParaRPr lang="en-US" sz="2000" dirty="0">
              <a:latin typeface="Helvetica "/>
            </a:endParaRPr>
          </a:p>
        </p:txBody>
      </p:sp>
      <p:sp>
        <p:nvSpPr>
          <p:cNvPr id="21" name="Text 19"/>
          <p:cNvSpPr/>
          <p:nvPr/>
        </p:nvSpPr>
        <p:spPr>
          <a:xfrm>
            <a:off x="5001768" y="2761488"/>
            <a:ext cx="1188720" cy="731520"/>
          </a:xfrm>
          <a:prstGeom prst="rect">
            <a:avLst/>
          </a:prstGeom>
          <a:noFill/>
          <a:ln/>
        </p:spPr>
        <p:txBody>
          <a:bodyPr wrap="square" rtlCol="0" anchor="ctr"/>
          <a:lstStyle/>
          <a:p>
            <a:pPr marL="0" indent="0" algn="ctr">
              <a:lnSpc>
                <a:spcPts val="1300"/>
              </a:lnSpc>
              <a:buNone/>
            </a:pPr>
            <a:r>
              <a:rPr lang="en-US" sz="1050" dirty="0">
                <a:solidFill>
                  <a:srgbClr val="FFFFFF"/>
                </a:solidFill>
                <a:latin typeface="Helvetica "/>
                <a:ea typeface="Calibri" pitchFamily="34" charset="-122"/>
                <a:cs typeface="Calibri" pitchFamily="34" charset="-120"/>
              </a:rPr>
              <a:t>Database</a:t>
            </a:r>
            <a:endParaRPr lang="en-US" sz="1050" dirty="0">
              <a:latin typeface="Helvetica "/>
            </a:endParaRPr>
          </a:p>
          <a:p>
            <a:pPr marL="0" indent="0" algn="ctr">
              <a:lnSpc>
                <a:spcPts val="1300"/>
              </a:lnSpc>
              <a:buNone/>
            </a:pPr>
            <a:r>
              <a:rPr lang="en-US" sz="1050" dirty="0">
                <a:solidFill>
                  <a:srgbClr val="FFFFFF"/>
                </a:solidFill>
                <a:latin typeface="Helvetica "/>
                <a:ea typeface="Calibri" pitchFamily="34" charset="-122"/>
                <a:cs typeface="Calibri" pitchFamily="34" charset="-120"/>
              </a:rPr>
              <a:t>Creation</a:t>
            </a:r>
            <a:endParaRPr lang="en-US" sz="1050" dirty="0">
              <a:latin typeface="Helvetica "/>
            </a:endParaRPr>
          </a:p>
        </p:txBody>
      </p:sp>
      <p:sp>
        <p:nvSpPr>
          <p:cNvPr id="22" name="Shape 20"/>
          <p:cNvSpPr/>
          <p:nvPr/>
        </p:nvSpPr>
        <p:spPr>
          <a:xfrm>
            <a:off x="6245352" y="2880360"/>
            <a:ext cx="137160" cy="0"/>
          </a:xfrm>
          <a:prstGeom prst="line">
            <a:avLst/>
          </a:prstGeom>
          <a:noFill/>
          <a:ln w="19050">
            <a:solidFill>
              <a:srgbClr val="6B6B63"/>
            </a:solidFill>
            <a:prstDash val="solid"/>
            <a:tailEnd type="triangle"/>
          </a:ln>
        </p:spPr>
      </p:sp>
      <p:sp>
        <p:nvSpPr>
          <p:cNvPr id="23" name="Shape 21"/>
          <p:cNvSpPr/>
          <p:nvPr/>
        </p:nvSpPr>
        <p:spPr>
          <a:xfrm>
            <a:off x="6382512" y="2194560"/>
            <a:ext cx="1298448" cy="1371600"/>
          </a:xfrm>
          <a:prstGeom prst="roundRect">
            <a:avLst>
              <a:gd name="adj" fmla="val 7042"/>
            </a:avLst>
          </a:prstGeom>
          <a:solidFill>
            <a:srgbClr val="6E9B4E"/>
          </a:solidFill>
          <a:ln/>
        </p:spPr>
      </p:sp>
      <p:sp>
        <p:nvSpPr>
          <p:cNvPr id="24" name="Text 22"/>
          <p:cNvSpPr/>
          <p:nvPr/>
        </p:nvSpPr>
        <p:spPr>
          <a:xfrm>
            <a:off x="6382512" y="2304288"/>
            <a:ext cx="1298448" cy="365760"/>
          </a:xfrm>
          <a:prstGeom prst="rect">
            <a:avLst/>
          </a:prstGeom>
          <a:noFill/>
          <a:ln/>
        </p:spPr>
        <p:txBody>
          <a:bodyPr wrap="square" rtlCol="0" anchor="ctr"/>
          <a:lstStyle/>
          <a:p>
            <a:pPr marL="0" indent="0" algn="ctr">
              <a:buNone/>
            </a:pPr>
            <a:r>
              <a:rPr lang="en-US" sz="2000" b="1" dirty="0">
                <a:solidFill>
                  <a:srgbClr val="FFFFFF"/>
                </a:solidFill>
                <a:latin typeface="Helvetica "/>
                <a:ea typeface="Cambria" pitchFamily="34" charset="-122"/>
                <a:cs typeface="Cambria" pitchFamily="34" charset="-120"/>
              </a:rPr>
              <a:t>5</a:t>
            </a:r>
            <a:endParaRPr lang="en-US" sz="2000" dirty="0">
              <a:latin typeface="Helvetica "/>
            </a:endParaRPr>
          </a:p>
        </p:txBody>
      </p:sp>
      <p:sp>
        <p:nvSpPr>
          <p:cNvPr id="25" name="Text 23"/>
          <p:cNvSpPr/>
          <p:nvPr/>
        </p:nvSpPr>
        <p:spPr>
          <a:xfrm>
            <a:off x="6437376" y="2761488"/>
            <a:ext cx="1188720" cy="731520"/>
          </a:xfrm>
          <a:prstGeom prst="rect">
            <a:avLst/>
          </a:prstGeom>
          <a:noFill/>
          <a:ln/>
        </p:spPr>
        <p:txBody>
          <a:bodyPr wrap="square" rtlCol="0" anchor="ctr"/>
          <a:lstStyle/>
          <a:p>
            <a:pPr marL="0" indent="0" algn="ctr">
              <a:lnSpc>
                <a:spcPts val="1300"/>
              </a:lnSpc>
              <a:buNone/>
            </a:pPr>
            <a:r>
              <a:rPr lang="en-US" sz="1050" dirty="0">
                <a:solidFill>
                  <a:srgbClr val="FFFFFF"/>
                </a:solidFill>
                <a:latin typeface="Helvetica "/>
                <a:ea typeface="Calibri" pitchFamily="34" charset="-122"/>
                <a:cs typeface="Calibri" pitchFamily="34" charset="-120"/>
              </a:rPr>
              <a:t>Table</a:t>
            </a:r>
            <a:endParaRPr lang="en-US" sz="1050" dirty="0">
              <a:latin typeface="Helvetica "/>
            </a:endParaRPr>
          </a:p>
          <a:p>
            <a:pPr marL="0" indent="0" algn="ctr">
              <a:lnSpc>
                <a:spcPts val="1300"/>
              </a:lnSpc>
              <a:buNone/>
            </a:pPr>
            <a:r>
              <a:rPr lang="en-US" sz="1050" dirty="0">
                <a:solidFill>
                  <a:srgbClr val="FFFFFF"/>
                </a:solidFill>
                <a:latin typeface="Helvetica "/>
                <a:ea typeface="Calibri" pitchFamily="34" charset="-122"/>
                <a:cs typeface="Calibri" pitchFamily="34" charset="-120"/>
              </a:rPr>
              <a:t>Implementation</a:t>
            </a:r>
            <a:endParaRPr lang="en-US" sz="1050" dirty="0">
              <a:latin typeface="Helvetica "/>
            </a:endParaRPr>
          </a:p>
        </p:txBody>
      </p:sp>
      <p:sp>
        <p:nvSpPr>
          <p:cNvPr id="26" name="Shape 24"/>
          <p:cNvSpPr/>
          <p:nvPr/>
        </p:nvSpPr>
        <p:spPr>
          <a:xfrm>
            <a:off x="7680960" y="2880360"/>
            <a:ext cx="137160" cy="0"/>
          </a:xfrm>
          <a:prstGeom prst="line">
            <a:avLst/>
          </a:prstGeom>
          <a:noFill/>
          <a:ln w="19050">
            <a:solidFill>
              <a:srgbClr val="6B6B63"/>
            </a:solidFill>
            <a:prstDash val="solid"/>
            <a:tailEnd type="triangle"/>
          </a:ln>
        </p:spPr>
      </p:sp>
      <p:sp>
        <p:nvSpPr>
          <p:cNvPr id="27" name="Shape 25"/>
          <p:cNvSpPr/>
          <p:nvPr/>
        </p:nvSpPr>
        <p:spPr>
          <a:xfrm>
            <a:off x="7818120" y="2194560"/>
            <a:ext cx="1298448" cy="1371600"/>
          </a:xfrm>
          <a:prstGeom prst="roundRect">
            <a:avLst>
              <a:gd name="adj" fmla="val 7042"/>
            </a:avLst>
          </a:prstGeom>
          <a:solidFill>
            <a:srgbClr val="1F3D22"/>
          </a:solidFill>
          <a:ln/>
        </p:spPr>
      </p:sp>
      <p:sp>
        <p:nvSpPr>
          <p:cNvPr id="28" name="Text 26"/>
          <p:cNvSpPr/>
          <p:nvPr/>
        </p:nvSpPr>
        <p:spPr>
          <a:xfrm>
            <a:off x="7818120" y="2304288"/>
            <a:ext cx="1298448" cy="365760"/>
          </a:xfrm>
          <a:prstGeom prst="rect">
            <a:avLst/>
          </a:prstGeom>
          <a:noFill/>
          <a:ln/>
        </p:spPr>
        <p:txBody>
          <a:bodyPr wrap="square" rtlCol="0" anchor="ctr"/>
          <a:lstStyle/>
          <a:p>
            <a:pPr marL="0" indent="0" algn="ctr">
              <a:buNone/>
            </a:pPr>
            <a:r>
              <a:rPr lang="en-US" sz="2000" b="1" dirty="0">
                <a:solidFill>
                  <a:srgbClr val="FFFFFF"/>
                </a:solidFill>
                <a:latin typeface="Helvetica "/>
                <a:ea typeface="Cambria" pitchFamily="34" charset="-122"/>
                <a:cs typeface="Cambria" pitchFamily="34" charset="-120"/>
              </a:rPr>
              <a:t>6</a:t>
            </a:r>
            <a:endParaRPr lang="en-US" sz="2000" dirty="0">
              <a:latin typeface="Helvetica "/>
            </a:endParaRPr>
          </a:p>
        </p:txBody>
      </p:sp>
      <p:sp>
        <p:nvSpPr>
          <p:cNvPr id="29" name="Text 27"/>
          <p:cNvSpPr/>
          <p:nvPr/>
        </p:nvSpPr>
        <p:spPr>
          <a:xfrm>
            <a:off x="7872984" y="2761488"/>
            <a:ext cx="1188720" cy="731520"/>
          </a:xfrm>
          <a:prstGeom prst="rect">
            <a:avLst/>
          </a:prstGeom>
          <a:noFill/>
          <a:ln/>
        </p:spPr>
        <p:txBody>
          <a:bodyPr wrap="square" rtlCol="0" anchor="ctr"/>
          <a:lstStyle/>
          <a:p>
            <a:pPr marL="0" indent="0" algn="ctr">
              <a:lnSpc>
                <a:spcPts val="1300"/>
              </a:lnSpc>
              <a:buNone/>
            </a:pPr>
            <a:r>
              <a:rPr lang="en-US" sz="1050" dirty="0">
                <a:solidFill>
                  <a:srgbClr val="FFFFFF"/>
                </a:solidFill>
                <a:latin typeface="Helvetica "/>
                <a:ea typeface="Calibri" pitchFamily="34" charset="-122"/>
                <a:cs typeface="Calibri" pitchFamily="34" charset="-120"/>
              </a:rPr>
              <a:t>PL/SQL</a:t>
            </a:r>
            <a:endParaRPr lang="en-US" sz="1050" dirty="0">
              <a:latin typeface="Helvetica "/>
            </a:endParaRPr>
          </a:p>
          <a:p>
            <a:pPr marL="0" indent="0" algn="ctr">
              <a:lnSpc>
                <a:spcPts val="1300"/>
              </a:lnSpc>
              <a:buNone/>
            </a:pPr>
            <a:r>
              <a:rPr lang="en-US" sz="1050" dirty="0">
                <a:solidFill>
                  <a:srgbClr val="FFFFFF"/>
                </a:solidFill>
                <a:latin typeface="Helvetica "/>
                <a:ea typeface="Calibri" pitchFamily="34" charset="-122"/>
                <a:cs typeface="Calibri" pitchFamily="34" charset="-120"/>
              </a:rPr>
              <a:t>Programming</a:t>
            </a:r>
            <a:endParaRPr lang="en-US" sz="1050" dirty="0">
              <a:latin typeface="Helvetica "/>
            </a:endParaRPr>
          </a:p>
        </p:txBody>
      </p:sp>
      <p:sp>
        <p:nvSpPr>
          <p:cNvPr id="30" name="Shape 28"/>
          <p:cNvSpPr/>
          <p:nvPr/>
        </p:nvSpPr>
        <p:spPr>
          <a:xfrm>
            <a:off x="9116568" y="2880360"/>
            <a:ext cx="137160" cy="0"/>
          </a:xfrm>
          <a:prstGeom prst="line">
            <a:avLst/>
          </a:prstGeom>
          <a:noFill/>
          <a:ln w="19050">
            <a:solidFill>
              <a:srgbClr val="6B6B63"/>
            </a:solidFill>
            <a:prstDash val="solid"/>
            <a:tailEnd type="triangle"/>
          </a:ln>
        </p:spPr>
      </p:sp>
      <p:sp>
        <p:nvSpPr>
          <p:cNvPr id="31" name="Shape 29"/>
          <p:cNvSpPr/>
          <p:nvPr/>
        </p:nvSpPr>
        <p:spPr>
          <a:xfrm>
            <a:off x="9253728" y="2194560"/>
            <a:ext cx="1298448" cy="1371600"/>
          </a:xfrm>
          <a:prstGeom prst="roundRect">
            <a:avLst>
              <a:gd name="adj" fmla="val 7042"/>
            </a:avLst>
          </a:prstGeom>
          <a:solidFill>
            <a:srgbClr val="6E9B4E"/>
          </a:solidFill>
          <a:ln/>
        </p:spPr>
      </p:sp>
      <p:sp>
        <p:nvSpPr>
          <p:cNvPr id="32" name="Text 30"/>
          <p:cNvSpPr/>
          <p:nvPr/>
        </p:nvSpPr>
        <p:spPr>
          <a:xfrm>
            <a:off x="9253728" y="2304288"/>
            <a:ext cx="1298448" cy="365760"/>
          </a:xfrm>
          <a:prstGeom prst="rect">
            <a:avLst/>
          </a:prstGeom>
          <a:noFill/>
          <a:ln/>
        </p:spPr>
        <p:txBody>
          <a:bodyPr wrap="square" rtlCol="0" anchor="ctr"/>
          <a:lstStyle/>
          <a:p>
            <a:pPr marL="0" indent="0" algn="ctr">
              <a:buNone/>
            </a:pPr>
            <a:r>
              <a:rPr lang="en-US" sz="2000" b="1" dirty="0">
                <a:solidFill>
                  <a:srgbClr val="FFFFFF"/>
                </a:solidFill>
                <a:latin typeface="Helvetica "/>
                <a:ea typeface="Cambria" pitchFamily="34" charset="-122"/>
                <a:cs typeface="Cambria" pitchFamily="34" charset="-120"/>
              </a:rPr>
              <a:t>7</a:t>
            </a:r>
            <a:endParaRPr lang="en-US" sz="2000" dirty="0">
              <a:latin typeface="Helvetica "/>
            </a:endParaRPr>
          </a:p>
        </p:txBody>
      </p:sp>
      <p:sp>
        <p:nvSpPr>
          <p:cNvPr id="33" name="Text 31"/>
          <p:cNvSpPr/>
          <p:nvPr/>
        </p:nvSpPr>
        <p:spPr>
          <a:xfrm>
            <a:off x="9308592" y="2761488"/>
            <a:ext cx="1188720" cy="731520"/>
          </a:xfrm>
          <a:prstGeom prst="rect">
            <a:avLst/>
          </a:prstGeom>
          <a:noFill/>
          <a:ln/>
        </p:spPr>
        <p:txBody>
          <a:bodyPr wrap="square" rtlCol="0" anchor="ctr"/>
          <a:lstStyle/>
          <a:p>
            <a:pPr marL="0" indent="0" algn="ctr">
              <a:lnSpc>
                <a:spcPts val="1300"/>
              </a:lnSpc>
              <a:buNone/>
            </a:pPr>
            <a:r>
              <a:rPr lang="en-US" sz="1050" dirty="0">
                <a:solidFill>
                  <a:srgbClr val="FFFFFF"/>
                </a:solidFill>
                <a:latin typeface="Helvetica "/>
                <a:ea typeface="Calibri" pitchFamily="34" charset="-122"/>
                <a:cs typeface="Calibri" pitchFamily="34" charset="-120"/>
              </a:rPr>
              <a:t>Triggers,</a:t>
            </a:r>
            <a:endParaRPr lang="en-US" sz="1050" dirty="0">
              <a:latin typeface="Helvetica "/>
            </a:endParaRPr>
          </a:p>
          <a:p>
            <a:pPr marL="0" indent="0" algn="ctr">
              <a:lnSpc>
                <a:spcPts val="1300"/>
              </a:lnSpc>
              <a:buNone/>
            </a:pPr>
            <a:r>
              <a:rPr lang="en-US" sz="1050" dirty="0">
                <a:solidFill>
                  <a:srgbClr val="FFFFFF"/>
                </a:solidFill>
                <a:latin typeface="Helvetica "/>
                <a:ea typeface="Calibri" pitchFamily="34" charset="-122"/>
                <a:cs typeface="Calibri" pitchFamily="34" charset="-120"/>
              </a:rPr>
              <a:t>Audit &amp; Security</a:t>
            </a:r>
            <a:endParaRPr lang="en-US" sz="1050" dirty="0">
              <a:latin typeface="Helvetica "/>
            </a:endParaRPr>
          </a:p>
        </p:txBody>
      </p:sp>
      <p:sp>
        <p:nvSpPr>
          <p:cNvPr id="34" name="Shape 32"/>
          <p:cNvSpPr/>
          <p:nvPr/>
        </p:nvSpPr>
        <p:spPr>
          <a:xfrm>
            <a:off x="10552176" y="2880360"/>
            <a:ext cx="137160" cy="0"/>
          </a:xfrm>
          <a:prstGeom prst="line">
            <a:avLst/>
          </a:prstGeom>
          <a:noFill/>
          <a:ln w="19050">
            <a:solidFill>
              <a:srgbClr val="6B6B63"/>
            </a:solidFill>
            <a:prstDash val="solid"/>
            <a:tailEnd type="triangle"/>
          </a:ln>
        </p:spPr>
      </p:sp>
      <p:sp>
        <p:nvSpPr>
          <p:cNvPr id="35" name="Shape 33"/>
          <p:cNvSpPr/>
          <p:nvPr/>
        </p:nvSpPr>
        <p:spPr>
          <a:xfrm>
            <a:off x="10689336" y="2194560"/>
            <a:ext cx="1298448" cy="1371600"/>
          </a:xfrm>
          <a:prstGeom prst="roundRect">
            <a:avLst>
              <a:gd name="adj" fmla="val 7042"/>
            </a:avLst>
          </a:prstGeom>
          <a:solidFill>
            <a:srgbClr val="D9A441"/>
          </a:solidFill>
          <a:ln/>
        </p:spPr>
      </p:sp>
      <p:sp>
        <p:nvSpPr>
          <p:cNvPr id="36" name="Text 34"/>
          <p:cNvSpPr/>
          <p:nvPr/>
        </p:nvSpPr>
        <p:spPr>
          <a:xfrm>
            <a:off x="10689336" y="2304288"/>
            <a:ext cx="1298448" cy="365760"/>
          </a:xfrm>
          <a:prstGeom prst="rect">
            <a:avLst/>
          </a:prstGeom>
          <a:noFill/>
          <a:ln/>
        </p:spPr>
        <p:txBody>
          <a:bodyPr wrap="square" rtlCol="0" anchor="ctr"/>
          <a:lstStyle/>
          <a:p>
            <a:pPr marL="0" indent="0" algn="ctr">
              <a:buNone/>
            </a:pPr>
            <a:r>
              <a:rPr lang="en-US" sz="2000" b="1" dirty="0">
                <a:solidFill>
                  <a:srgbClr val="2A2A26"/>
                </a:solidFill>
                <a:latin typeface="Helvetica "/>
                <a:ea typeface="Cambria" pitchFamily="34" charset="-122"/>
                <a:cs typeface="Cambria" pitchFamily="34" charset="-120"/>
              </a:rPr>
              <a:t>8</a:t>
            </a:r>
            <a:endParaRPr lang="en-US" sz="2000" dirty="0">
              <a:latin typeface="Helvetica "/>
            </a:endParaRPr>
          </a:p>
        </p:txBody>
      </p:sp>
      <p:sp>
        <p:nvSpPr>
          <p:cNvPr id="37" name="Text 35"/>
          <p:cNvSpPr/>
          <p:nvPr/>
        </p:nvSpPr>
        <p:spPr>
          <a:xfrm>
            <a:off x="10744200" y="2761488"/>
            <a:ext cx="1188720" cy="731520"/>
          </a:xfrm>
          <a:prstGeom prst="rect">
            <a:avLst/>
          </a:prstGeom>
          <a:noFill/>
          <a:ln/>
        </p:spPr>
        <p:txBody>
          <a:bodyPr wrap="square" rtlCol="0" anchor="ctr"/>
          <a:lstStyle/>
          <a:p>
            <a:pPr marL="0" indent="0" algn="ctr">
              <a:lnSpc>
                <a:spcPts val="1300"/>
              </a:lnSpc>
              <a:buNone/>
            </a:pPr>
            <a:r>
              <a:rPr lang="en-US" sz="1050" dirty="0">
                <a:solidFill>
                  <a:srgbClr val="2A2A26"/>
                </a:solidFill>
                <a:latin typeface="Helvetica "/>
                <a:ea typeface="Calibri" pitchFamily="34" charset="-122"/>
                <a:cs typeface="Calibri" pitchFamily="34" charset="-120"/>
              </a:rPr>
              <a:t>APEX &amp;</a:t>
            </a:r>
            <a:endParaRPr lang="en-US" sz="1050" dirty="0">
              <a:latin typeface="Helvetica "/>
            </a:endParaRPr>
          </a:p>
          <a:p>
            <a:pPr marL="0" indent="0" algn="ctr">
              <a:lnSpc>
                <a:spcPts val="1300"/>
              </a:lnSpc>
              <a:buNone/>
            </a:pPr>
            <a:r>
              <a:rPr lang="en-US" sz="1050" dirty="0">
                <a:solidFill>
                  <a:srgbClr val="2A2A26"/>
                </a:solidFill>
                <a:latin typeface="Helvetica "/>
                <a:ea typeface="Calibri" pitchFamily="34" charset="-122"/>
                <a:cs typeface="Calibri" pitchFamily="34" charset="-120"/>
              </a:rPr>
              <a:t>Documentation</a:t>
            </a:r>
            <a:endParaRPr lang="en-US" sz="1050" dirty="0">
              <a:latin typeface="Helvetica "/>
            </a:endParaRPr>
          </a:p>
        </p:txBody>
      </p:sp>
      <p:sp>
        <p:nvSpPr>
          <p:cNvPr id="38" name="Text 36"/>
          <p:cNvSpPr/>
          <p:nvPr/>
        </p:nvSpPr>
        <p:spPr>
          <a:xfrm>
            <a:off x="640080" y="3977640"/>
            <a:ext cx="10881360" cy="822960"/>
          </a:xfrm>
          <a:prstGeom prst="rect">
            <a:avLst/>
          </a:prstGeom>
          <a:noFill/>
          <a:ln/>
        </p:spPr>
        <p:txBody>
          <a:bodyPr wrap="square" rtlCol="0" anchor="ctr"/>
          <a:lstStyle/>
          <a:p>
            <a:pPr marL="0" indent="0">
              <a:lnSpc>
                <a:spcPts val="1900"/>
              </a:lnSpc>
              <a:buNone/>
            </a:pPr>
            <a:r>
              <a:rPr lang="en-US" sz="1350" dirty="0">
                <a:solidFill>
                  <a:srgbClr val="2A2A26"/>
                </a:solidFill>
                <a:latin typeface="Helvetica "/>
                <a:ea typeface="Calibri" pitchFamily="34" charset="-122"/>
                <a:cs typeface="Calibri" pitchFamily="34" charset="-120"/>
              </a:rPr>
              <a:t>Each phase builds directly on the last: the ERD (Phase 3) is enforced by the DDL (Phase 5), which is operated on by PL/SQL (Phase 6), governed by triggers (Phase 7), and finally exposed through the APEX UI (Phase 8).</a:t>
            </a:r>
            <a:endParaRPr lang="en-US" sz="1350" dirty="0">
              <a:latin typeface="Helvetica "/>
            </a:endParaRPr>
          </a:p>
        </p:txBody>
      </p:sp>
      <p:sp>
        <p:nvSpPr>
          <p:cNvPr id="39" name="Shape 37"/>
          <p:cNvSpPr/>
          <p:nvPr/>
        </p:nvSpPr>
        <p:spPr>
          <a:xfrm>
            <a:off x="640080" y="5029200"/>
            <a:ext cx="10881360" cy="1234440"/>
          </a:xfrm>
          <a:prstGeom prst="roundRect">
            <a:avLst>
              <a:gd name="adj" fmla="val 7407"/>
            </a:avLst>
          </a:prstGeom>
          <a:solidFill>
            <a:srgbClr val="F3F6EE"/>
          </a:solidFill>
          <a:ln/>
        </p:spPr>
      </p:sp>
      <p:sp>
        <p:nvSpPr>
          <p:cNvPr id="40" name="Text 38"/>
          <p:cNvSpPr/>
          <p:nvPr/>
        </p:nvSpPr>
        <p:spPr>
          <a:xfrm>
            <a:off x="914400" y="5257800"/>
            <a:ext cx="10332720" cy="822960"/>
          </a:xfrm>
          <a:prstGeom prst="rect">
            <a:avLst/>
          </a:prstGeom>
          <a:noFill/>
          <a:ln/>
        </p:spPr>
        <p:txBody>
          <a:bodyPr wrap="square" rtlCol="0" anchor="ctr"/>
          <a:lstStyle/>
          <a:p>
            <a:pPr marL="0" indent="0">
              <a:lnSpc>
                <a:spcPts val="1900"/>
              </a:lnSpc>
              <a:buNone/>
            </a:pPr>
            <a:r>
              <a:rPr lang="en-US" sz="1350" b="1" dirty="0">
                <a:solidFill>
                  <a:srgbClr val="1F3D22"/>
                </a:solidFill>
                <a:latin typeface="Helvetica "/>
                <a:ea typeface="Calibri" pitchFamily="34" charset="-122"/>
                <a:cs typeface="Calibri" pitchFamily="34" charset="-120"/>
              </a:rPr>
              <a:t>Design principle:  </a:t>
            </a:r>
            <a:r>
              <a:rPr lang="en-US" sz="1350" dirty="0">
                <a:solidFill>
                  <a:srgbClr val="2A2A26"/>
                </a:solidFill>
                <a:latin typeface="Helvetica "/>
                <a:ea typeface="Calibri" pitchFamily="34" charset="-122"/>
                <a:cs typeface="Calibri" pitchFamily="34" charset="-120"/>
              </a:rPr>
              <a:t>start from real business rules (weekday/holiday sales restriction, audit obligations) and let those rules drive the schema, PL/SQL, and trigger design — not the other way around.</a:t>
            </a:r>
            <a:endParaRPr lang="en-US" sz="1350" dirty="0">
              <a:latin typeface="Helvetica "/>
            </a:endParaRPr>
          </a:p>
        </p:txBody>
      </p:sp>
      <p:sp>
        <p:nvSpPr>
          <p:cNvPr id="41" name="Text 39"/>
          <p:cNvSpPr/>
          <p:nvPr/>
        </p:nvSpPr>
        <p:spPr>
          <a:xfrm>
            <a:off x="640080" y="6510528"/>
            <a:ext cx="10972800" cy="274320"/>
          </a:xfrm>
          <a:prstGeom prst="rect">
            <a:avLst/>
          </a:prstGeom>
          <a:noFill/>
          <a:ln/>
        </p:spPr>
        <p:txBody>
          <a:bodyPr wrap="square" rtlCol="0" anchor="ctr"/>
          <a:lstStyle/>
          <a:p>
            <a:pPr marL="0" indent="0">
              <a:buNone/>
            </a:pPr>
            <a:r>
              <a:rPr lang="en-US" sz="950" dirty="0">
                <a:solidFill>
                  <a:srgbClr val="6B6B63"/>
                </a:solidFill>
                <a:latin typeface="Helvetica "/>
                <a:ea typeface="Calibri" pitchFamily="34" charset="-122"/>
                <a:cs typeface="Calibri" pitchFamily="34" charset="-120"/>
              </a:rPr>
              <a:t>Farmer Produce &amp; Market Supply Chain Management System   |   4 / 10</a:t>
            </a:r>
            <a:endParaRPr lang="en-US" sz="950" dirty="0">
              <a:latin typeface="Helvetica "/>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F3D22"/>
          </a:solidFill>
          <a:ln/>
        </p:spPr>
      </p:sp>
      <p:sp>
        <p:nvSpPr>
          <p:cNvPr id="3" name="Text 1"/>
          <p:cNvSpPr/>
          <p:nvPr/>
        </p:nvSpPr>
        <p:spPr>
          <a:xfrm>
            <a:off x="640080" y="128016"/>
            <a:ext cx="7315200" cy="274320"/>
          </a:xfrm>
          <a:prstGeom prst="rect">
            <a:avLst/>
          </a:prstGeom>
          <a:noFill/>
          <a:ln/>
        </p:spPr>
        <p:txBody>
          <a:bodyPr wrap="square" rtlCol="0" anchor="ctr"/>
          <a:lstStyle/>
          <a:p>
            <a:pPr marL="0" indent="0">
              <a:buNone/>
            </a:pPr>
            <a:r>
              <a:rPr lang="en-US" sz="1100" b="1" kern="0" spc="150" dirty="0">
                <a:solidFill>
                  <a:srgbClr val="D9A441"/>
                </a:solidFill>
                <a:latin typeface="Helvetica "/>
                <a:ea typeface="Calibri" pitchFamily="34" charset="-122"/>
                <a:cs typeface="Calibri" pitchFamily="34" charset="-120"/>
              </a:rPr>
              <a:t>04 · ERD OVERVIEW</a:t>
            </a:r>
            <a:endParaRPr lang="en-US" sz="1100" dirty="0">
              <a:latin typeface="Helvetica "/>
            </a:endParaRPr>
          </a:p>
        </p:txBody>
      </p:sp>
      <p:sp>
        <p:nvSpPr>
          <p:cNvPr id="4" name="Text 2"/>
          <p:cNvSpPr/>
          <p:nvPr/>
        </p:nvSpPr>
        <p:spPr>
          <a:xfrm>
            <a:off x="640080" y="365760"/>
            <a:ext cx="9601200" cy="548640"/>
          </a:xfrm>
          <a:prstGeom prst="rect">
            <a:avLst/>
          </a:prstGeom>
          <a:noFill/>
          <a:ln/>
        </p:spPr>
        <p:txBody>
          <a:bodyPr wrap="square" rtlCol="0" anchor="ctr"/>
          <a:lstStyle/>
          <a:p>
            <a:pPr marL="0" indent="0">
              <a:buNone/>
            </a:pPr>
            <a:r>
              <a:rPr lang="en-US" sz="2400" b="1" dirty="0">
                <a:solidFill>
                  <a:srgbClr val="FFFFFF"/>
                </a:solidFill>
                <a:latin typeface="Helvetica "/>
                <a:ea typeface="Cambria" pitchFamily="34" charset="-122"/>
                <a:cs typeface="Cambria" pitchFamily="34" charset="-120"/>
              </a:rPr>
              <a:t>Database Design</a:t>
            </a:r>
            <a:endParaRPr lang="en-US" sz="2400" dirty="0">
              <a:latin typeface="Helvetica "/>
            </a:endParaRPr>
          </a:p>
        </p:txBody>
      </p:sp>
      <p:sp>
        <p:nvSpPr>
          <p:cNvPr id="5" name="Text 3"/>
          <p:cNvSpPr/>
          <p:nvPr/>
        </p:nvSpPr>
        <p:spPr>
          <a:xfrm>
            <a:off x="10698480" y="320040"/>
            <a:ext cx="1188720" cy="320040"/>
          </a:xfrm>
          <a:prstGeom prst="rect">
            <a:avLst/>
          </a:prstGeom>
          <a:noFill/>
          <a:ln/>
        </p:spPr>
        <p:txBody>
          <a:bodyPr wrap="square" rtlCol="0" anchor="ctr"/>
          <a:lstStyle/>
          <a:p>
            <a:pPr marL="0" indent="0" algn="r">
              <a:buNone/>
            </a:pPr>
            <a:r>
              <a:rPr lang="en-US" sz="1050" dirty="0">
                <a:solidFill>
                  <a:srgbClr val="9FB48A"/>
                </a:solidFill>
                <a:latin typeface="Helvetica "/>
                <a:ea typeface="Calibri" pitchFamily="34" charset="-122"/>
                <a:cs typeface="Calibri" pitchFamily="34" charset="-120"/>
              </a:rPr>
              <a:t>DPR400210</a:t>
            </a:r>
            <a:endParaRPr lang="en-US" sz="1050" dirty="0">
              <a:latin typeface="Helvetica "/>
            </a:endParaRPr>
          </a:p>
        </p:txBody>
      </p:sp>
      <p:pic>
        <p:nvPicPr>
          <p:cNvPr id="6" name="Image 0" descr="/home/claude/farmdb/erd_simple.png"/>
          <p:cNvPicPr>
            <a:picLocks noChangeAspect="1"/>
          </p:cNvPicPr>
          <p:nvPr/>
        </p:nvPicPr>
        <p:blipFill>
          <a:blip r:embed="rId3"/>
          <a:stretch>
            <a:fillRect/>
          </a:stretch>
        </p:blipFill>
        <p:spPr>
          <a:xfrm>
            <a:off x="822960" y="1371600"/>
            <a:ext cx="10515600" cy="2926080"/>
          </a:xfrm>
          <a:prstGeom prst="rect">
            <a:avLst/>
          </a:prstGeom>
        </p:spPr>
      </p:pic>
      <p:sp>
        <p:nvSpPr>
          <p:cNvPr id="7" name="Text 4"/>
          <p:cNvSpPr/>
          <p:nvPr/>
        </p:nvSpPr>
        <p:spPr>
          <a:xfrm>
            <a:off x="822960" y="4343400"/>
            <a:ext cx="10332720" cy="365760"/>
          </a:xfrm>
          <a:prstGeom prst="rect">
            <a:avLst/>
          </a:prstGeom>
          <a:noFill/>
          <a:ln/>
        </p:spPr>
        <p:txBody>
          <a:bodyPr wrap="square" rtlCol="0" anchor="ctr"/>
          <a:lstStyle/>
          <a:p>
            <a:pPr marL="0" indent="0">
              <a:buNone/>
            </a:pPr>
            <a:r>
              <a:rPr lang="en-US" sz="1250" i="1" dirty="0">
                <a:solidFill>
                  <a:srgbClr val="6B6B63"/>
                </a:solidFill>
                <a:latin typeface="Helvetica "/>
                <a:ea typeface="Calibri" pitchFamily="34" charset="-122"/>
                <a:cs typeface="Calibri" pitchFamily="34" charset="-120"/>
              </a:rPr>
              <a:t>9 entities in total — core chain shown above, plus PUBLIC_HOLIDAY (trigger reference) and AUDIT_LOG (system-wide change log).</a:t>
            </a:r>
            <a:endParaRPr lang="en-US" sz="1250" dirty="0">
              <a:latin typeface="Helvetica "/>
            </a:endParaRPr>
          </a:p>
        </p:txBody>
      </p:sp>
      <p:sp>
        <p:nvSpPr>
          <p:cNvPr id="8" name="Shape 5"/>
          <p:cNvSpPr/>
          <p:nvPr/>
        </p:nvSpPr>
        <p:spPr>
          <a:xfrm>
            <a:off x="822960" y="4880825"/>
            <a:ext cx="10515600" cy="1417320"/>
          </a:xfrm>
          <a:prstGeom prst="roundRect">
            <a:avLst>
              <a:gd name="adj" fmla="val 6452"/>
            </a:avLst>
          </a:prstGeom>
          <a:solidFill>
            <a:srgbClr val="F3F6EE"/>
          </a:solidFill>
          <a:ln/>
        </p:spPr>
      </p:sp>
      <p:sp>
        <p:nvSpPr>
          <p:cNvPr id="9" name="Shape 6"/>
          <p:cNvSpPr/>
          <p:nvPr/>
        </p:nvSpPr>
        <p:spPr>
          <a:xfrm>
            <a:off x="1097280" y="5074920"/>
            <a:ext cx="118872" cy="118872"/>
          </a:xfrm>
          <a:prstGeom prst="ellipse">
            <a:avLst/>
          </a:prstGeom>
          <a:solidFill>
            <a:srgbClr val="D9A441"/>
          </a:solidFill>
          <a:ln/>
        </p:spPr>
      </p:sp>
      <p:sp>
        <p:nvSpPr>
          <p:cNvPr id="10" name="Text 7"/>
          <p:cNvSpPr/>
          <p:nvPr/>
        </p:nvSpPr>
        <p:spPr>
          <a:xfrm>
            <a:off x="1353312" y="4956048"/>
            <a:ext cx="9692640" cy="365760"/>
          </a:xfrm>
          <a:prstGeom prst="rect">
            <a:avLst/>
          </a:prstGeom>
          <a:noFill/>
          <a:ln/>
        </p:spPr>
        <p:txBody>
          <a:bodyPr wrap="square" rtlCol="0" anchor="ctr"/>
          <a:lstStyle/>
          <a:p>
            <a:pPr marL="0" indent="0">
              <a:buNone/>
            </a:pPr>
            <a:r>
              <a:rPr lang="en-US" sz="1300" dirty="0">
                <a:solidFill>
                  <a:srgbClr val="2A2A26"/>
                </a:solidFill>
                <a:latin typeface="Helvetica "/>
                <a:ea typeface="Calibri" pitchFamily="34" charset="-122"/>
                <a:cs typeface="Calibri" pitchFamily="34" charset="-120"/>
              </a:rPr>
              <a:t>1NF: atomic attributes, no repeating groups</a:t>
            </a:r>
            <a:endParaRPr lang="en-US" sz="1300" dirty="0">
              <a:latin typeface="Helvetica "/>
            </a:endParaRPr>
          </a:p>
        </p:txBody>
      </p:sp>
      <p:sp>
        <p:nvSpPr>
          <p:cNvPr id="11" name="Shape 8"/>
          <p:cNvSpPr/>
          <p:nvPr/>
        </p:nvSpPr>
        <p:spPr>
          <a:xfrm>
            <a:off x="1097280" y="5458968"/>
            <a:ext cx="118872" cy="118872"/>
          </a:xfrm>
          <a:prstGeom prst="ellipse">
            <a:avLst/>
          </a:prstGeom>
          <a:solidFill>
            <a:srgbClr val="D9A441"/>
          </a:solidFill>
          <a:ln/>
        </p:spPr>
      </p:sp>
      <p:sp>
        <p:nvSpPr>
          <p:cNvPr id="12" name="Text 9"/>
          <p:cNvSpPr/>
          <p:nvPr/>
        </p:nvSpPr>
        <p:spPr>
          <a:xfrm>
            <a:off x="1353312" y="5340096"/>
            <a:ext cx="9692640" cy="365760"/>
          </a:xfrm>
          <a:prstGeom prst="rect">
            <a:avLst/>
          </a:prstGeom>
          <a:noFill/>
          <a:ln/>
        </p:spPr>
        <p:txBody>
          <a:bodyPr wrap="square" rtlCol="0" anchor="ctr"/>
          <a:lstStyle/>
          <a:p>
            <a:pPr marL="0" indent="0">
              <a:buNone/>
            </a:pPr>
            <a:r>
              <a:rPr lang="en-US" sz="1300" dirty="0">
                <a:solidFill>
                  <a:srgbClr val="2A2A26"/>
                </a:solidFill>
                <a:latin typeface="Helvetica "/>
                <a:ea typeface="Calibri" pitchFamily="34" charset="-122"/>
                <a:cs typeface="Calibri" pitchFamily="34" charset="-120"/>
              </a:rPr>
              <a:t>2NF: surrogate PKs eliminate partial dependency</a:t>
            </a:r>
            <a:endParaRPr lang="en-US" sz="1300" dirty="0">
              <a:latin typeface="Helvetica "/>
            </a:endParaRPr>
          </a:p>
        </p:txBody>
      </p:sp>
      <p:sp>
        <p:nvSpPr>
          <p:cNvPr id="13" name="Shape 10"/>
          <p:cNvSpPr/>
          <p:nvPr/>
        </p:nvSpPr>
        <p:spPr>
          <a:xfrm>
            <a:off x="1097280" y="5843016"/>
            <a:ext cx="118872" cy="118872"/>
          </a:xfrm>
          <a:prstGeom prst="ellipse">
            <a:avLst/>
          </a:prstGeom>
          <a:solidFill>
            <a:srgbClr val="D9A441"/>
          </a:solidFill>
          <a:ln/>
        </p:spPr>
      </p:sp>
      <p:sp>
        <p:nvSpPr>
          <p:cNvPr id="14" name="Text 11"/>
          <p:cNvSpPr/>
          <p:nvPr/>
        </p:nvSpPr>
        <p:spPr>
          <a:xfrm>
            <a:off x="1353312" y="5724144"/>
            <a:ext cx="9692640" cy="365760"/>
          </a:xfrm>
          <a:prstGeom prst="rect">
            <a:avLst/>
          </a:prstGeom>
          <a:noFill/>
          <a:ln/>
        </p:spPr>
        <p:txBody>
          <a:bodyPr wrap="square" rtlCol="0" anchor="ctr"/>
          <a:lstStyle/>
          <a:p>
            <a:pPr marL="0" indent="0">
              <a:buNone/>
            </a:pPr>
            <a:r>
              <a:rPr lang="en-US" sz="1300" dirty="0">
                <a:solidFill>
                  <a:srgbClr val="2A2A26"/>
                </a:solidFill>
                <a:latin typeface="Helvetica "/>
                <a:ea typeface="Calibri" pitchFamily="34" charset="-122"/>
                <a:cs typeface="Calibri" pitchFamily="34" charset="-120"/>
              </a:rPr>
              <a:t>3NF: no transitive dependencies across entities</a:t>
            </a:r>
            <a:endParaRPr lang="en-US" sz="1300" dirty="0">
              <a:latin typeface="Helvetica "/>
            </a:endParaRPr>
          </a:p>
        </p:txBody>
      </p:sp>
      <p:sp>
        <p:nvSpPr>
          <p:cNvPr id="15" name="Text 12"/>
          <p:cNvSpPr/>
          <p:nvPr/>
        </p:nvSpPr>
        <p:spPr>
          <a:xfrm>
            <a:off x="640080" y="6510528"/>
            <a:ext cx="10972800" cy="274320"/>
          </a:xfrm>
          <a:prstGeom prst="rect">
            <a:avLst/>
          </a:prstGeom>
          <a:noFill/>
          <a:ln/>
        </p:spPr>
        <p:txBody>
          <a:bodyPr wrap="square" rtlCol="0" anchor="ctr"/>
          <a:lstStyle/>
          <a:p>
            <a:pPr marL="0" indent="0">
              <a:buNone/>
            </a:pPr>
            <a:r>
              <a:rPr lang="en-US" sz="950" dirty="0">
                <a:solidFill>
                  <a:srgbClr val="6B6B63"/>
                </a:solidFill>
                <a:latin typeface="Helvetica "/>
                <a:ea typeface="Calibri" pitchFamily="34" charset="-122"/>
                <a:cs typeface="Calibri" pitchFamily="34" charset="-120"/>
              </a:rPr>
              <a:t>Farmer Produce &amp; Market Supply Chain Management System   |   5 / 10</a:t>
            </a:r>
            <a:endParaRPr lang="en-US" sz="950" dirty="0">
              <a:latin typeface="Helvetica "/>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F3D22"/>
          </a:solidFill>
          <a:ln/>
        </p:spPr>
      </p:sp>
      <p:sp>
        <p:nvSpPr>
          <p:cNvPr id="3" name="Text 1"/>
          <p:cNvSpPr/>
          <p:nvPr/>
        </p:nvSpPr>
        <p:spPr>
          <a:xfrm>
            <a:off x="640080" y="128016"/>
            <a:ext cx="7315200" cy="274320"/>
          </a:xfrm>
          <a:prstGeom prst="rect">
            <a:avLst/>
          </a:prstGeom>
          <a:noFill/>
          <a:ln/>
        </p:spPr>
        <p:txBody>
          <a:bodyPr wrap="square" rtlCol="0" anchor="ctr"/>
          <a:lstStyle/>
          <a:p>
            <a:pPr marL="0" indent="0">
              <a:buNone/>
            </a:pPr>
            <a:r>
              <a:rPr lang="en-US" sz="1100" b="1" kern="0" spc="150" dirty="0">
                <a:solidFill>
                  <a:srgbClr val="D9A441"/>
                </a:solidFill>
                <a:latin typeface=" Helvetica "/>
                <a:ea typeface="Calibri" pitchFamily="34" charset="-122"/>
                <a:cs typeface="Calibri" pitchFamily="34" charset="-120"/>
              </a:rPr>
              <a:t>DATABASE DESIGN · 9 TABLES</a:t>
            </a:r>
            <a:endParaRPr lang="en-US" sz="1100" dirty="0">
              <a:latin typeface=" Helvetica "/>
            </a:endParaRPr>
          </a:p>
        </p:txBody>
      </p:sp>
      <p:sp>
        <p:nvSpPr>
          <p:cNvPr id="4" name="Text 2"/>
          <p:cNvSpPr/>
          <p:nvPr/>
        </p:nvSpPr>
        <p:spPr>
          <a:xfrm>
            <a:off x="640080" y="365760"/>
            <a:ext cx="9601200" cy="548640"/>
          </a:xfrm>
          <a:prstGeom prst="rect">
            <a:avLst/>
          </a:prstGeom>
          <a:noFill/>
          <a:ln/>
        </p:spPr>
        <p:txBody>
          <a:bodyPr wrap="square" rtlCol="0" anchor="ctr"/>
          <a:lstStyle/>
          <a:p>
            <a:pPr marL="0" indent="0">
              <a:buNone/>
            </a:pPr>
            <a:r>
              <a:rPr lang="en-US" sz="2400" b="1" dirty="0">
                <a:solidFill>
                  <a:srgbClr val="FFFFFF"/>
                </a:solidFill>
                <a:latin typeface=" Helvetica "/>
                <a:ea typeface="Cambria" pitchFamily="34" charset="-122"/>
                <a:cs typeface="Cambria" pitchFamily="34" charset="-120"/>
              </a:rPr>
              <a:t>Entity-Relationship Diagram</a:t>
            </a:r>
            <a:endParaRPr lang="en-US" sz="2400" dirty="0">
              <a:latin typeface=" Helvetica "/>
            </a:endParaRPr>
          </a:p>
        </p:txBody>
      </p:sp>
      <p:sp>
        <p:nvSpPr>
          <p:cNvPr id="5" name="Text 3"/>
          <p:cNvSpPr/>
          <p:nvPr/>
        </p:nvSpPr>
        <p:spPr>
          <a:xfrm>
            <a:off x="10698480" y="320040"/>
            <a:ext cx="1188720" cy="320040"/>
          </a:xfrm>
          <a:prstGeom prst="rect">
            <a:avLst/>
          </a:prstGeom>
          <a:noFill/>
          <a:ln/>
        </p:spPr>
        <p:txBody>
          <a:bodyPr wrap="square" rtlCol="0" anchor="ctr"/>
          <a:lstStyle/>
          <a:p>
            <a:pPr marL="0" indent="0" algn="r">
              <a:buNone/>
            </a:pPr>
            <a:r>
              <a:rPr lang="en-US" sz="1050" dirty="0">
                <a:solidFill>
                  <a:srgbClr val="9FB48A"/>
                </a:solidFill>
                <a:latin typeface=" Helvetica "/>
                <a:ea typeface="Calibri" pitchFamily="34" charset="-122"/>
                <a:cs typeface="Calibri" pitchFamily="34" charset="-120"/>
              </a:rPr>
              <a:t>DPR400210</a:t>
            </a:r>
            <a:endParaRPr lang="en-US" sz="1050" dirty="0">
              <a:latin typeface=" Helvetica "/>
            </a:endParaRPr>
          </a:p>
        </p:txBody>
      </p:sp>
      <p:pic>
        <p:nvPicPr>
          <p:cNvPr id="6" name="Image 0" descr="/home/claude/farmdb/erd_full.png"/>
          <p:cNvPicPr>
            <a:picLocks noChangeAspect="1"/>
          </p:cNvPicPr>
          <p:nvPr/>
        </p:nvPicPr>
        <p:blipFill>
          <a:blip r:embed="rId2"/>
          <a:stretch>
            <a:fillRect/>
          </a:stretch>
        </p:blipFill>
        <p:spPr>
          <a:xfrm>
            <a:off x="1221056" y="1143000"/>
            <a:ext cx="9746840" cy="5074920"/>
          </a:xfrm>
          <a:prstGeom prst="rect">
            <a:avLst/>
          </a:prstGeom>
        </p:spPr>
      </p:pic>
      <p:sp>
        <p:nvSpPr>
          <p:cNvPr id="7" name="Text 4"/>
          <p:cNvSpPr/>
          <p:nvPr/>
        </p:nvSpPr>
        <p:spPr>
          <a:xfrm>
            <a:off x="640080" y="6510528"/>
            <a:ext cx="10972800" cy="274320"/>
          </a:xfrm>
          <a:prstGeom prst="rect">
            <a:avLst/>
          </a:prstGeom>
          <a:noFill/>
          <a:ln/>
        </p:spPr>
        <p:txBody>
          <a:bodyPr wrap="square" rtlCol="0" anchor="ctr"/>
          <a:lstStyle/>
          <a:p>
            <a:pPr marL="0" indent="0">
              <a:buNone/>
            </a:pPr>
            <a:r>
              <a:rPr lang="en-US" sz="950" dirty="0">
                <a:solidFill>
                  <a:srgbClr val="6B6B63"/>
                </a:solidFill>
                <a:latin typeface=" Helvetica "/>
                <a:ea typeface="Calibri" pitchFamily="34" charset="-122"/>
                <a:cs typeface="Calibri" pitchFamily="34" charset="-120"/>
              </a:rPr>
              <a:t>Farmer Produce &amp; Market Supply Chain Management System   |   2 / 3</a:t>
            </a:r>
            <a:endParaRPr lang="en-US" sz="950" dirty="0">
              <a:latin typeface=" Helvetica "/>
            </a:endParaRPr>
          </a:p>
        </p:txBody>
      </p:sp>
    </p:spTree>
    <p:extLst>
      <p:ext uri="{BB962C8B-B14F-4D97-AF65-F5344CB8AC3E}">
        <p14:creationId xmlns:p14="http://schemas.microsoft.com/office/powerpoint/2010/main" val="28116287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F3D22"/>
          </a:solidFill>
          <a:ln/>
        </p:spPr>
      </p:sp>
      <p:sp>
        <p:nvSpPr>
          <p:cNvPr id="3" name="Text 1"/>
          <p:cNvSpPr/>
          <p:nvPr/>
        </p:nvSpPr>
        <p:spPr>
          <a:xfrm>
            <a:off x="640080" y="128016"/>
            <a:ext cx="7315200" cy="274320"/>
          </a:xfrm>
          <a:prstGeom prst="rect">
            <a:avLst/>
          </a:prstGeom>
          <a:noFill/>
          <a:ln/>
        </p:spPr>
        <p:txBody>
          <a:bodyPr wrap="square" rtlCol="0" anchor="ctr"/>
          <a:lstStyle/>
          <a:p>
            <a:pPr marL="0" indent="0">
              <a:buNone/>
            </a:pPr>
            <a:r>
              <a:rPr lang="en-US" sz="1100" b="1" kern="0" spc="150" dirty="0">
                <a:solidFill>
                  <a:srgbClr val="D9A441"/>
                </a:solidFill>
                <a:latin typeface="Helvetica "/>
                <a:ea typeface="Calibri" pitchFamily="34" charset="-122"/>
                <a:cs typeface="Calibri" pitchFamily="34" charset="-120"/>
              </a:rPr>
              <a:t>LEGEND · NORMALIZATION</a:t>
            </a:r>
            <a:endParaRPr lang="en-US" sz="1100" dirty="0">
              <a:latin typeface="Helvetica "/>
            </a:endParaRPr>
          </a:p>
        </p:txBody>
      </p:sp>
      <p:sp>
        <p:nvSpPr>
          <p:cNvPr id="4" name="Text 2"/>
          <p:cNvSpPr/>
          <p:nvPr/>
        </p:nvSpPr>
        <p:spPr>
          <a:xfrm>
            <a:off x="640080" y="365760"/>
            <a:ext cx="9601200" cy="548640"/>
          </a:xfrm>
          <a:prstGeom prst="rect">
            <a:avLst/>
          </a:prstGeom>
          <a:noFill/>
          <a:ln/>
        </p:spPr>
        <p:txBody>
          <a:bodyPr wrap="square" rtlCol="0" anchor="ctr"/>
          <a:lstStyle/>
          <a:p>
            <a:pPr marL="0" indent="0">
              <a:buNone/>
            </a:pPr>
            <a:r>
              <a:rPr lang="en-US" sz="2400" b="1" dirty="0">
                <a:solidFill>
                  <a:srgbClr val="FFFFFF"/>
                </a:solidFill>
                <a:latin typeface="Helvetica "/>
                <a:ea typeface="Cambria" pitchFamily="34" charset="-122"/>
                <a:cs typeface="Cambria" pitchFamily="34" charset="-120"/>
              </a:rPr>
              <a:t>Reading the ERD</a:t>
            </a:r>
            <a:endParaRPr lang="en-US" sz="2400" dirty="0">
              <a:latin typeface="Helvetica "/>
            </a:endParaRPr>
          </a:p>
        </p:txBody>
      </p:sp>
      <p:sp>
        <p:nvSpPr>
          <p:cNvPr id="5" name="Text 3"/>
          <p:cNvSpPr/>
          <p:nvPr/>
        </p:nvSpPr>
        <p:spPr>
          <a:xfrm>
            <a:off x="10698480" y="320040"/>
            <a:ext cx="1188720" cy="320040"/>
          </a:xfrm>
          <a:prstGeom prst="rect">
            <a:avLst/>
          </a:prstGeom>
          <a:noFill/>
          <a:ln/>
        </p:spPr>
        <p:txBody>
          <a:bodyPr wrap="square" rtlCol="0" anchor="ctr"/>
          <a:lstStyle/>
          <a:p>
            <a:pPr marL="0" indent="0" algn="r">
              <a:buNone/>
            </a:pPr>
            <a:r>
              <a:rPr lang="en-US" sz="1050" dirty="0">
                <a:solidFill>
                  <a:srgbClr val="9FB48A"/>
                </a:solidFill>
                <a:latin typeface="Helvetica "/>
                <a:ea typeface="Calibri" pitchFamily="34" charset="-122"/>
                <a:cs typeface="Calibri" pitchFamily="34" charset="-120"/>
              </a:rPr>
              <a:t>DPR400210</a:t>
            </a:r>
            <a:endParaRPr lang="en-US" sz="1050" dirty="0">
              <a:latin typeface="Helvetica "/>
            </a:endParaRPr>
          </a:p>
        </p:txBody>
      </p:sp>
      <p:sp>
        <p:nvSpPr>
          <p:cNvPr id="6" name="Shape 4"/>
          <p:cNvSpPr/>
          <p:nvPr/>
        </p:nvSpPr>
        <p:spPr>
          <a:xfrm>
            <a:off x="548640" y="1280160"/>
            <a:ext cx="5760720" cy="5029200"/>
          </a:xfrm>
          <a:prstGeom prst="roundRect">
            <a:avLst>
              <a:gd name="adj" fmla="val 2182"/>
            </a:avLst>
          </a:prstGeom>
          <a:solidFill>
            <a:srgbClr val="F3F6EE"/>
          </a:solidFill>
          <a:ln/>
        </p:spPr>
      </p:sp>
      <p:sp>
        <p:nvSpPr>
          <p:cNvPr id="7" name="Text 5"/>
          <p:cNvSpPr/>
          <p:nvPr/>
        </p:nvSpPr>
        <p:spPr>
          <a:xfrm>
            <a:off x="868680" y="1508760"/>
            <a:ext cx="5120640" cy="411480"/>
          </a:xfrm>
          <a:prstGeom prst="rect">
            <a:avLst/>
          </a:prstGeom>
          <a:noFill/>
          <a:ln/>
        </p:spPr>
        <p:txBody>
          <a:bodyPr wrap="square" rtlCol="0" anchor="ctr"/>
          <a:lstStyle/>
          <a:p>
            <a:pPr marL="0" indent="0">
              <a:buNone/>
            </a:pPr>
            <a:r>
              <a:rPr lang="en-US" sz="1800" b="1" dirty="0">
                <a:solidFill>
                  <a:srgbClr val="1F3D22"/>
                </a:solidFill>
                <a:latin typeface="Helvetica "/>
                <a:ea typeface="Cambria" pitchFamily="34" charset="-122"/>
                <a:cs typeface="Cambria" pitchFamily="34" charset="-120"/>
              </a:rPr>
              <a:t>Legend</a:t>
            </a:r>
            <a:endParaRPr lang="en-US" sz="1800" dirty="0">
              <a:latin typeface="Helvetica "/>
            </a:endParaRPr>
          </a:p>
        </p:txBody>
      </p:sp>
      <p:sp>
        <p:nvSpPr>
          <p:cNvPr id="8" name="Shape 6"/>
          <p:cNvSpPr/>
          <p:nvPr/>
        </p:nvSpPr>
        <p:spPr>
          <a:xfrm>
            <a:off x="868680" y="2103120"/>
            <a:ext cx="1051560" cy="365760"/>
          </a:xfrm>
          <a:prstGeom prst="roundRect">
            <a:avLst>
              <a:gd name="adj" fmla="val 15000"/>
            </a:avLst>
          </a:prstGeom>
          <a:solidFill>
            <a:srgbClr val="6E9B4E"/>
          </a:solidFill>
          <a:ln/>
        </p:spPr>
      </p:sp>
      <p:sp>
        <p:nvSpPr>
          <p:cNvPr id="9" name="Text 7"/>
          <p:cNvSpPr/>
          <p:nvPr/>
        </p:nvSpPr>
        <p:spPr>
          <a:xfrm>
            <a:off x="868680" y="2103120"/>
            <a:ext cx="1051560" cy="365760"/>
          </a:xfrm>
          <a:prstGeom prst="rect">
            <a:avLst/>
          </a:prstGeom>
          <a:noFill/>
          <a:ln/>
        </p:spPr>
        <p:txBody>
          <a:bodyPr wrap="square" rtlCol="0" anchor="ctr"/>
          <a:lstStyle/>
          <a:p>
            <a:pPr marL="0" indent="0" algn="ctr">
              <a:buNone/>
            </a:pPr>
            <a:r>
              <a:rPr lang="en-US" sz="1150" b="1" dirty="0">
                <a:solidFill>
                  <a:srgbClr val="FFFFFF"/>
                </a:solidFill>
                <a:latin typeface="Helvetica "/>
                <a:ea typeface="Courier New" pitchFamily="34" charset="-122"/>
                <a:cs typeface="Courier New" pitchFamily="34" charset="-120"/>
              </a:rPr>
              <a:t>PK</a:t>
            </a:r>
            <a:endParaRPr lang="en-US" sz="1150" dirty="0">
              <a:latin typeface="Helvetica "/>
            </a:endParaRPr>
          </a:p>
        </p:txBody>
      </p:sp>
      <p:sp>
        <p:nvSpPr>
          <p:cNvPr id="10" name="Text 8"/>
          <p:cNvSpPr/>
          <p:nvPr/>
        </p:nvSpPr>
        <p:spPr>
          <a:xfrm>
            <a:off x="2057400" y="2103120"/>
            <a:ext cx="3931920" cy="365760"/>
          </a:xfrm>
          <a:prstGeom prst="rect">
            <a:avLst/>
          </a:prstGeom>
          <a:noFill/>
          <a:ln/>
        </p:spPr>
        <p:txBody>
          <a:bodyPr wrap="square" rtlCol="0" anchor="ctr"/>
          <a:lstStyle/>
          <a:p>
            <a:pPr marL="0" indent="0">
              <a:buNone/>
            </a:pPr>
            <a:r>
              <a:rPr lang="en-US" sz="1250" dirty="0">
                <a:solidFill>
                  <a:srgbClr val="2A2A26"/>
                </a:solidFill>
                <a:latin typeface="Helvetica "/>
                <a:ea typeface="Calibri" pitchFamily="34" charset="-122"/>
                <a:cs typeface="Calibri" pitchFamily="34" charset="-120"/>
              </a:rPr>
              <a:t>Primary Key — uniquely identifies the row</a:t>
            </a:r>
            <a:endParaRPr lang="en-US" sz="1250" dirty="0">
              <a:latin typeface="Helvetica "/>
            </a:endParaRPr>
          </a:p>
        </p:txBody>
      </p:sp>
      <p:sp>
        <p:nvSpPr>
          <p:cNvPr id="11" name="Shape 9"/>
          <p:cNvSpPr/>
          <p:nvPr/>
        </p:nvSpPr>
        <p:spPr>
          <a:xfrm>
            <a:off x="868680" y="2670048"/>
            <a:ext cx="1051560" cy="365760"/>
          </a:xfrm>
          <a:prstGeom prst="roundRect">
            <a:avLst>
              <a:gd name="adj" fmla="val 15000"/>
            </a:avLst>
          </a:prstGeom>
          <a:solidFill>
            <a:srgbClr val="6E9B4E"/>
          </a:solidFill>
          <a:ln/>
        </p:spPr>
      </p:sp>
      <p:sp>
        <p:nvSpPr>
          <p:cNvPr id="12" name="Text 10"/>
          <p:cNvSpPr/>
          <p:nvPr/>
        </p:nvSpPr>
        <p:spPr>
          <a:xfrm>
            <a:off x="868680" y="2670048"/>
            <a:ext cx="1051560" cy="365760"/>
          </a:xfrm>
          <a:prstGeom prst="rect">
            <a:avLst/>
          </a:prstGeom>
          <a:noFill/>
          <a:ln/>
        </p:spPr>
        <p:txBody>
          <a:bodyPr wrap="square" rtlCol="0" anchor="ctr"/>
          <a:lstStyle/>
          <a:p>
            <a:pPr marL="0" indent="0" algn="ctr">
              <a:buNone/>
            </a:pPr>
            <a:r>
              <a:rPr lang="en-US" sz="1150" b="1" dirty="0">
                <a:solidFill>
                  <a:srgbClr val="FFFFFF"/>
                </a:solidFill>
                <a:latin typeface="Helvetica "/>
                <a:ea typeface="Courier New" pitchFamily="34" charset="-122"/>
                <a:cs typeface="Courier New" pitchFamily="34" charset="-120"/>
              </a:rPr>
              <a:t>FK</a:t>
            </a:r>
            <a:endParaRPr lang="en-US" sz="1150" dirty="0">
              <a:latin typeface="Helvetica "/>
            </a:endParaRPr>
          </a:p>
        </p:txBody>
      </p:sp>
      <p:sp>
        <p:nvSpPr>
          <p:cNvPr id="13" name="Text 11"/>
          <p:cNvSpPr/>
          <p:nvPr/>
        </p:nvSpPr>
        <p:spPr>
          <a:xfrm>
            <a:off x="2057400" y="2670048"/>
            <a:ext cx="3931920" cy="365760"/>
          </a:xfrm>
          <a:prstGeom prst="rect">
            <a:avLst/>
          </a:prstGeom>
          <a:noFill/>
          <a:ln/>
        </p:spPr>
        <p:txBody>
          <a:bodyPr wrap="square" rtlCol="0" anchor="ctr"/>
          <a:lstStyle/>
          <a:p>
            <a:pPr marL="0" indent="0">
              <a:buNone/>
            </a:pPr>
            <a:r>
              <a:rPr lang="en-US" sz="1250" dirty="0">
                <a:solidFill>
                  <a:srgbClr val="2A2A26"/>
                </a:solidFill>
                <a:latin typeface="Helvetica "/>
                <a:ea typeface="Calibri" pitchFamily="34" charset="-122"/>
                <a:cs typeface="Calibri" pitchFamily="34" charset="-120"/>
              </a:rPr>
              <a:t>Foreign Key — references another table's PK</a:t>
            </a:r>
            <a:endParaRPr lang="en-US" sz="1250" dirty="0">
              <a:latin typeface="Helvetica "/>
            </a:endParaRPr>
          </a:p>
        </p:txBody>
      </p:sp>
      <p:sp>
        <p:nvSpPr>
          <p:cNvPr id="14" name="Shape 12"/>
          <p:cNvSpPr/>
          <p:nvPr/>
        </p:nvSpPr>
        <p:spPr>
          <a:xfrm>
            <a:off x="868680" y="3236976"/>
            <a:ext cx="1051560" cy="365760"/>
          </a:xfrm>
          <a:prstGeom prst="roundRect">
            <a:avLst>
              <a:gd name="adj" fmla="val 15000"/>
            </a:avLst>
          </a:prstGeom>
          <a:solidFill>
            <a:srgbClr val="6E9B4E"/>
          </a:solidFill>
          <a:ln/>
        </p:spPr>
      </p:sp>
      <p:sp>
        <p:nvSpPr>
          <p:cNvPr id="15" name="Text 13"/>
          <p:cNvSpPr/>
          <p:nvPr/>
        </p:nvSpPr>
        <p:spPr>
          <a:xfrm>
            <a:off x="868680" y="3236976"/>
            <a:ext cx="1051560" cy="365760"/>
          </a:xfrm>
          <a:prstGeom prst="rect">
            <a:avLst/>
          </a:prstGeom>
          <a:noFill/>
          <a:ln/>
        </p:spPr>
        <p:txBody>
          <a:bodyPr wrap="square" rtlCol="0" anchor="ctr"/>
          <a:lstStyle/>
          <a:p>
            <a:pPr marL="0" indent="0" algn="ctr">
              <a:buNone/>
            </a:pPr>
            <a:r>
              <a:rPr lang="en-US" sz="1150" b="1" dirty="0">
                <a:solidFill>
                  <a:srgbClr val="FFFFFF"/>
                </a:solidFill>
                <a:latin typeface="Helvetica "/>
                <a:ea typeface="Courier New" pitchFamily="34" charset="-122"/>
                <a:cs typeface="Courier New" pitchFamily="34" charset="-120"/>
              </a:rPr>
              <a:t>UQ</a:t>
            </a:r>
            <a:endParaRPr lang="en-US" sz="1150" dirty="0">
              <a:latin typeface="Helvetica "/>
            </a:endParaRPr>
          </a:p>
        </p:txBody>
      </p:sp>
      <p:sp>
        <p:nvSpPr>
          <p:cNvPr id="16" name="Text 14"/>
          <p:cNvSpPr/>
          <p:nvPr/>
        </p:nvSpPr>
        <p:spPr>
          <a:xfrm>
            <a:off x="2057400" y="3236976"/>
            <a:ext cx="3931920" cy="365760"/>
          </a:xfrm>
          <a:prstGeom prst="rect">
            <a:avLst/>
          </a:prstGeom>
          <a:noFill/>
          <a:ln/>
        </p:spPr>
        <p:txBody>
          <a:bodyPr wrap="square" rtlCol="0" anchor="ctr"/>
          <a:lstStyle/>
          <a:p>
            <a:pPr marL="0" indent="0">
              <a:buNone/>
            </a:pPr>
            <a:r>
              <a:rPr lang="en-US" sz="1250" dirty="0">
                <a:solidFill>
                  <a:srgbClr val="2A2A26"/>
                </a:solidFill>
                <a:latin typeface="Helvetica "/>
                <a:ea typeface="Calibri" pitchFamily="34" charset="-122"/>
                <a:cs typeface="Calibri" pitchFamily="34" charset="-120"/>
              </a:rPr>
              <a:t>Unique constraint — no duplicate values allowed</a:t>
            </a:r>
            <a:endParaRPr lang="en-US" sz="1250" dirty="0">
              <a:latin typeface="Helvetica "/>
            </a:endParaRPr>
          </a:p>
        </p:txBody>
      </p:sp>
      <p:sp>
        <p:nvSpPr>
          <p:cNvPr id="17" name="Shape 15"/>
          <p:cNvSpPr/>
          <p:nvPr/>
        </p:nvSpPr>
        <p:spPr>
          <a:xfrm>
            <a:off x="868680" y="3803904"/>
            <a:ext cx="1051560" cy="365760"/>
          </a:xfrm>
          <a:prstGeom prst="roundRect">
            <a:avLst>
              <a:gd name="adj" fmla="val 15000"/>
            </a:avLst>
          </a:prstGeom>
          <a:solidFill>
            <a:srgbClr val="6E9B4E"/>
          </a:solidFill>
          <a:ln/>
        </p:spPr>
      </p:sp>
      <p:sp>
        <p:nvSpPr>
          <p:cNvPr id="18" name="Text 16"/>
          <p:cNvSpPr/>
          <p:nvPr/>
        </p:nvSpPr>
        <p:spPr>
          <a:xfrm>
            <a:off x="868680" y="3803904"/>
            <a:ext cx="1051560" cy="365760"/>
          </a:xfrm>
          <a:prstGeom prst="rect">
            <a:avLst/>
          </a:prstGeom>
          <a:noFill/>
          <a:ln/>
        </p:spPr>
        <p:txBody>
          <a:bodyPr wrap="square" rtlCol="0" anchor="ctr"/>
          <a:lstStyle/>
          <a:p>
            <a:pPr marL="0" indent="0" algn="ctr">
              <a:buNone/>
            </a:pPr>
            <a:r>
              <a:rPr lang="en-US" sz="1150" b="1" dirty="0">
                <a:solidFill>
                  <a:srgbClr val="FFFFFF"/>
                </a:solidFill>
                <a:latin typeface="Helvetica "/>
                <a:ea typeface="Courier New" pitchFamily="34" charset="-122"/>
                <a:cs typeface="Courier New" pitchFamily="34" charset="-120"/>
              </a:rPr>
              <a:t>→ (solid)</a:t>
            </a:r>
            <a:endParaRPr lang="en-US" sz="1150" dirty="0">
              <a:latin typeface="Helvetica "/>
            </a:endParaRPr>
          </a:p>
        </p:txBody>
      </p:sp>
      <p:sp>
        <p:nvSpPr>
          <p:cNvPr id="19" name="Text 17"/>
          <p:cNvSpPr/>
          <p:nvPr/>
        </p:nvSpPr>
        <p:spPr>
          <a:xfrm>
            <a:off x="2057400" y="3803904"/>
            <a:ext cx="3931920" cy="365760"/>
          </a:xfrm>
          <a:prstGeom prst="rect">
            <a:avLst/>
          </a:prstGeom>
          <a:noFill/>
          <a:ln/>
        </p:spPr>
        <p:txBody>
          <a:bodyPr wrap="square" rtlCol="0" anchor="ctr"/>
          <a:lstStyle/>
          <a:p>
            <a:pPr marL="0" indent="0">
              <a:buNone/>
            </a:pPr>
            <a:r>
              <a:rPr lang="en-US" sz="1250" dirty="0">
                <a:solidFill>
                  <a:srgbClr val="2A2A26"/>
                </a:solidFill>
                <a:latin typeface="Helvetica "/>
                <a:ea typeface="Calibri" pitchFamily="34" charset="-122"/>
                <a:cs typeface="Calibri" pitchFamily="34" charset="-120"/>
              </a:rPr>
              <a:t>Foreign key relationship (one-to-many)</a:t>
            </a:r>
            <a:endParaRPr lang="en-US" sz="1250" dirty="0">
              <a:latin typeface="Helvetica "/>
            </a:endParaRPr>
          </a:p>
        </p:txBody>
      </p:sp>
      <p:sp>
        <p:nvSpPr>
          <p:cNvPr id="20" name="Shape 18"/>
          <p:cNvSpPr/>
          <p:nvPr/>
        </p:nvSpPr>
        <p:spPr>
          <a:xfrm>
            <a:off x="868680" y="4370832"/>
            <a:ext cx="1051560" cy="365760"/>
          </a:xfrm>
          <a:prstGeom prst="roundRect">
            <a:avLst>
              <a:gd name="adj" fmla="val 15000"/>
            </a:avLst>
          </a:prstGeom>
          <a:solidFill>
            <a:srgbClr val="6E9B4E"/>
          </a:solidFill>
          <a:ln/>
        </p:spPr>
      </p:sp>
      <p:sp>
        <p:nvSpPr>
          <p:cNvPr id="21" name="Text 19"/>
          <p:cNvSpPr/>
          <p:nvPr/>
        </p:nvSpPr>
        <p:spPr>
          <a:xfrm>
            <a:off x="868680" y="4370832"/>
            <a:ext cx="1051560" cy="365760"/>
          </a:xfrm>
          <a:prstGeom prst="rect">
            <a:avLst/>
          </a:prstGeom>
          <a:noFill/>
          <a:ln/>
        </p:spPr>
        <p:txBody>
          <a:bodyPr wrap="square" rtlCol="0" anchor="ctr"/>
          <a:lstStyle/>
          <a:p>
            <a:pPr marL="0" indent="0" algn="ctr">
              <a:buNone/>
            </a:pPr>
            <a:r>
              <a:rPr lang="en-US" sz="1150" b="1" dirty="0">
                <a:solidFill>
                  <a:srgbClr val="FFFFFF"/>
                </a:solidFill>
                <a:latin typeface="Helvetica "/>
                <a:ea typeface="Courier New" pitchFamily="34" charset="-122"/>
                <a:cs typeface="Courier New" pitchFamily="34" charset="-120"/>
              </a:rPr>
              <a:t>→ (dashed)</a:t>
            </a:r>
            <a:endParaRPr lang="en-US" sz="1150" dirty="0">
              <a:latin typeface="Helvetica "/>
            </a:endParaRPr>
          </a:p>
        </p:txBody>
      </p:sp>
      <p:sp>
        <p:nvSpPr>
          <p:cNvPr id="22" name="Text 20"/>
          <p:cNvSpPr/>
          <p:nvPr/>
        </p:nvSpPr>
        <p:spPr>
          <a:xfrm>
            <a:off x="2057400" y="4370832"/>
            <a:ext cx="3931920" cy="365760"/>
          </a:xfrm>
          <a:prstGeom prst="rect">
            <a:avLst/>
          </a:prstGeom>
          <a:noFill/>
          <a:ln/>
        </p:spPr>
        <p:txBody>
          <a:bodyPr wrap="square" rtlCol="0" anchor="ctr"/>
          <a:lstStyle/>
          <a:p>
            <a:pPr marL="0" indent="0">
              <a:buNone/>
            </a:pPr>
            <a:r>
              <a:rPr lang="en-US" sz="1250" dirty="0">
                <a:solidFill>
                  <a:srgbClr val="2A2A26"/>
                </a:solidFill>
                <a:latin typeface="Helvetica "/>
                <a:ea typeface="Calibri" pitchFamily="34" charset="-122"/>
                <a:cs typeface="Calibri" pitchFamily="34" charset="-120"/>
              </a:rPr>
              <a:t>Referenced by trigger logic, not a formal FK</a:t>
            </a:r>
            <a:endParaRPr lang="en-US" sz="1250" dirty="0">
              <a:latin typeface="Helvetica "/>
            </a:endParaRPr>
          </a:p>
        </p:txBody>
      </p:sp>
      <p:sp>
        <p:nvSpPr>
          <p:cNvPr id="23" name="Shape 21"/>
          <p:cNvSpPr/>
          <p:nvPr/>
        </p:nvSpPr>
        <p:spPr>
          <a:xfrm>
            <a:off x="868680" y="5029200"/>
            <a:ext cx="5120640" cy="0"/>
          </a:xfrm>
          <a:prstGeom prst="line">
            <a:avLst/>
          </a:prstGeom>
          <a:noFill/>
          <a:ln w="12700">
            <a:solidFill>
              <a:srgbClr val="D8DECB"/>
            </a:solidFill>
            <a:prstDash val="solid"/>
          </a:ln>
        </p:spPr>
      </p:sp>
      <p:sp>
        <p:nvSpPr>
          <p:cNvPr id="24" name="Text 22"/>
          <p:cNvSpPr/>
          <p:nvPr/>
        </p:nvSpPr>
        <p:spPr>
          <a:xfrm>
            <a:off x="868680" y="5212080"/>
            <a:ext cx="5120640" cy="1463040"/>
          </a:xfrm>
          <a:prstGeom prst="rect">
            <a:avLst/>
          </a:prstGeom>
          <a:noFill/>
          <a:ln/>
        </p:spPr>
        <p:txBody>
          <a:bodyPr wrap="square" rtlCol="0" anchor="ctr"/>
          <a:lstStyle/>
          <a:p>
            <a:pPr marL="0" indent="0">
              <a:lnSpc>
                <a:spcPts val="1700"/>
              </a:lnSpc>
              <a:buNone/>
            </a:pPr>
            <a:r>
              <a:rPr lang="en-US" sz="1250" dirty="0">
                <a:solidFill>
                  <a:srgbClr val="6B6B63"/>
                </a:solidFill>
                <a:latin typeface="Helvetica "/>
                <a:ea typeface="Calibri" pitchFamily="34" charset="-122"/>
                <a:cs typeface="Calibri" pitchFamily="34" charset="-120"/>
              </a:rPr>
              <a:t>9 tables total: 7 core transactional entities (Farmer through Payment) plus 2 supporting tables (Public Holiday, Audit Log) that exist to enforce business rules and accountability rather than to model the sale chain itself.</a:t>
            </a:r>
            <a:endParaRPr lang="en-US" sz="1250" dirty="0">
              <a:latin typeface="Helvetica "/>
            </a:endParaRPr>
          </a:p>
        </p:txBody>
      </p:sp>
      <p:sp>
        <p:nvSpPr>
          <p:cNvPr id="25" name="Shape 23"/>
          <p:cNvSpPr/>
          <p:nvPr/>
        </p:nvSpPr>
        <p:spPr>
          <a:xfrm>
            <a:off x="6537960" y="1280160"/>
            <a:ext cx="5120640" cy="5029200"/>
          </a:xfrm>
          <a:prstGeom prst="roundRect">
            <a:avLst>
              <a:gd name="adj" fmla="val 2182"/>
            </a:avLst>
          </a:prstGeom>
          <a:solidFill>
            <a:srgbClr val="1F3D22"/>
          </a:solidFill>
          <a:ln/>
        </p:spPr>
      </p:sp>
      <p:sp>
        <p:nvSpPr>
          <p:cNvPr id="26" name="Text 24"/>
          <p:cNvSpPr/>
          <p:nvPr/>
        </p:nvSpPr>
        <p:spPr>
          <a:xfrm>
            <a:off x="6858000" y="1508760"/>
            <a:ext cx="4389120" cy="411480"/>
          </a:xfrm>
          <a:prstGeom prst="rect">
            <a:avLst/>
          </a:prstGeom>
          <a:noFill/>
          <a:ln/>
        </p:spPr>
        <p:txBody>
          <a:bodyPr wrap="square" rtlCol="0" anchor="ctr"/>
          <a:lstStyle/>
          <a:p>
            <a:pPr marL="0" indent="0">
              <a:buNone/>
            </a:pPr>
            <a:r>
              <a:rPr lang="en-US" sz="1700" b="1" dirty="0">
                <a:solidFill>
                  <a:srgbClr val="FFFFFF"/>
                </a:solidFill>
                <a:latin typeface="Helvetica "/>
                <a:ea typeface="Cambria" pitchFamily="34" charset="-122"/>
                <a:cs typeface="Cambria" pitchFamily="34" charset="-120"/>
              </a:rPr>
              <a:t>Normalization (3NF)</a:t>
            </a:r>
            <a:endParaRPr lang="en-US" sz="1700" dirty="0">
              <a:latin typeface="Helvetica "/>
            </a:endParaRPr>
          </a:p>
        </p:txBody>
      </p:sp>
      <p:sp>
        <p:nvSpPr>
          <p:cNvPr id="27" name="Shape 25"/>
          <p:cNvSpPr/>
          <p:nvPr/>
        </p:nvSpPr>
        <p:spPr>
          <a:xfrm>
            <a:off x="6858000" y="2103120"/>
            <a:ext cx="502920" cy="502920"/>
          </a:xfrm>
          <a:prstGeom prst="ellipse">
            <a:avLst/>
          </a:prstGeom>
          <a:solidFill>
            <a:srgbClr val="D9A441"/>
          </a:solidFill>
          <a:ln/>
        </p:spPr>
      </p:sp>
      <p:sp>
        <p:nvSpPr>
          <p:cNvPr id="28" name="Text 26"/>
          <p:cNvSpPr/>
          <p:nvPr/>
        </p:nvSpPr>
        <p:spPr>
          <a:xfrm>
            <a:off x="6858000" y="2103120"/>
            <a:ext cx="502920" cy="502920"/>
          </a:xfrm>
          <a:prstGeom prst="rect">
            <a:avLst/>
          </a:prstGeom>
          <a:noFill/>
          <a:ln/>
        </p:spPr>
        <p:txBody>
          <a:bodyPr wrap="square" rtlCol="0" anchor="ctr"/>
          <a:lstStyle/>
          <a:p>
            <a:pPr marL="0" indent="0" algn="ctr">
              <a:buNone/>
            </a:pPr>
            <a:r>
              <a:rPr lang="en-US" sz="1200" b="1" dirty="0">
                <a:solidFill>
                  <a:srgbClr val="2A2A26"/>
                </a:solidFill>
                <a:latin typeface="Helvetica "/>
                <a:ea typeface="Cambria" pitchFamily="34" charset="-122"/>
                <a:cs typeface="Cambria" pitchFamily="34" charset="-120"/>
              </a:rPr>
              <a:t>1NF</a:t>
            </a:r>
            <a:endParaRPr lang="en-US" sz="1200" dirty="0">
              <a:latin typeface="Helvetica "/>
            </a:endParaRPr>
          </a:p>
        </p:txBody>
      </p:sp>
      <p:sp>
        <p:nvSpPr>
          <p:cNvPr id="29" name="Text 27"/>
          <p:cNvSpPr/>
          <p:nvPr/>
        </p:nvSpPr>
        <p:spPr>
          <a:xfrm>
            <a:off x="7498080" y="2057400"/>
            <a:ext cx="3977640" cy="822960"/>
          </a:xfrm>
          <a:prstGeom prst="rect">
            <a:avLst/>
          </a:prstGeom>
          <a:noFill/>
          <a:ln/>
        </p:spPr>
        <p:txBody>
          <a:bodyPr wrap="square" rtlCol="0" anchor="ctr"/>
          <a:lstStyle/>
          <a:p>
            <a:pPr marL="0" indent="0">
              <a:lnSpc>
                <a:spcPts val="1600"/>
              </a:lnSpc>
              <a:buNone/>
            </a:pPr>
            <a:r>
              <a:rPr lang="en-US" sz="1250" dirty="0">
                <a:solidFill>
                  <a:srgbClr val="E4E9DC"/>
                </a:solidFill>
                <a:latin typeface="Helvetica "/>
                <a:ea typeface="Calibri" pitchFamily="34" charset="-122"/>
                <a:cs typeface="Calibri" pitchFamily="34" charset="-120"/>
              </a:rPr>
              <a:t>All attributes are atomic — no repeating groups or multi-valued fields</a:t>
            </a:r>
            <a:endParaRPr lang="en-US" sz="1250" dirty="0">
              <a:latin typeface="Helvetica "/>
            </a:endParaRPr>
          </a:p>
        </p:txBody>
      </p:sp>
      <p:sp>
        <p:nvSpPr>
          <p:cNvPr id="30" name="Shape 28"/>
          <p:cNvSpPr/>
          <p:nvPr/>
        </p:nvSpPr>
        <p:spPr>
          <a:xfrm>
            <a:off x="6858000" y="3154680"/>
            <a:ext cx="502920" cy="502920"/>
          </a:xfrm>
          <a:prstGeom prst="ellipse">
            <a:avLst/>
          </a:prstGeom>
          <a:solidFill>
            <a:srgbClr val="D9A441"/>
          </a:solidFill>
          <a:ln/>
        </p:spPr>
      </p:sp>
      <p:sp>
        <p:nvSpPr>
          <p:cNvPr id="31" name="Text 29"/>
          <p:cNvSpPr/>
          <p:nvPr/>
        </p:nvSpPr>
        <p:spPr>
          <a:xfrm>
            <a:off x="6858000" y="3154680"/>
            <a:ext cx="502920" cy="502920"/>
          </a:xfrm>
          <a:prstGeom prst="rect">
            <a:avLst/>
          </a:prstGeom>
          <a:noFill/>
          <a:ln/>
        </p:spPr>
        <p:txBody>
          <a:bodyPr wrap="square" rtlCol="0" anchor="ctr"/>
          <a:lstStyle/>
          <a:p>
            <a:pPr marL="0" indent="0" algn="ctr">
              <a:buNone/>
            </a:pPr>
            <a:r>
              <a:rPr lang="en-US" sz="1200" b="1" dirty="0">
                <a:solidFill>
                  <a:srgbClr val="2A2A26"/>
                </a:solidFill>
                <a:latin typeface="Helvetica "/>
                <a:ea typeface="Cambria" pitchFamily="34" charset="-122"/>
                <a:cs typeface="Cambria" pitchFamily="34" charset="-120"/>
              </a:rPr>
              <a:t>2NF</a:t>
            </a:r>
            <a:endParaRPr lang="en-US" sz="1200" dirty="0">
              <a:latin typeface="Helvetica "/>
            </a:endParaRPr>
          </a:p>
        </p:txBody>
      </p:sp>
      <p:sp>
        <p:nvSpPr>
          <p:cNvPr id="32" name="Text 30"/>
          <p:cNvSpPr/>
          <p:nvPr/>
        </p:nvSpPr>
        <p:spPr>
          <a:xfrm>
            <a:off x="7498080" y="3108960"/>
            <a:ext cx="3977640" cy="822960"/>
          </a:xfrm>
          <a:prstGeom prst="rect">
            <a:avLst/>
          </a:prstGeom>
          <a:noFill/>
          <a:ln/>
        </p:spPr>
        <p:txBody>
          <a:bodyPr wrap="square" rtlCol="0" anchor="ctr"/>
          <a:lstStyle/>
          <a:p>
            <a:pPr marL="0" indent="0">
              <a:lnSpc>
                <a:spcPts val="1600"/>
              </a:lnSpc>
              <a:buNone/>
            </a:pPr>
            <a:r>
              <a:rPr lang="en-US" sz="1250" dirty="0">
                <a:solidFill>
                  <a:srgbClr val="E4E9DC"/>
                </a:solidFill>
                <a:latin typeface="Helvetica "/>
                <a:ea typeface="Calibri" pitchFamily="34" charset="-122"/>
                <a:cs typeface="Calibri" pitchFamily="34" charset="-120"/>
              </a:rPr>
              <a:t>Every table uses a single-column surrogate PK, so partial dependency cannot occur</a:t>
            </a:r>
            <a:endParaRPr lang="en-US" sz="1250" dirty="0">
              <a:latin typeface="Helvetica "/>
            </a:endParaRPr>
          </a:p>
        </p:txBody>
      </p:sp>
      <p:sp>
        <p:nvSpPr>
          <p:cNvPr id="33" name="Shape 31"/>
          <p:cNvSpPr/>
          <p:nvPr/>
        </p:nvSpPr>
        <p:spPr>
          <a:xfrm>
            <a:off x="6858000" y="4206240"/>
            <a:ext cx="502920" cy="502920"/>
          </a:xfrm>
          <a:prstGeom prst="ellipse">
            <a:avLst/>
          </a:prstGeom>
          <a:solidFill>
            <a:srgbClr val="D9A441"/>
          </a:solidFill>
          <a:ln/>
        </p:spPr>
      </p:sp>
      <p:sp>
        <p:nvSpPr>
          <p:cNvPr id="34" name="Text 32"/>
          <p:cNvSpPr/>
          <p:nvPr/>
        </p:nvSpPr>
        <p:spPr>
          <a:xfrm>
            <a:off x="6858000" y="4206240"/>
            <a:ext cx="502920" cy="502920"/>
          </a:xfrm>
          <a:prstGeom prst="rect">
            <a:avLst/>
          </a:prstGeom>
          <a:noFill/>
          <a:ln/>
        </p:spPr>
        <p:txBody>
          <a:bodyPr wrap="square" rtlCol="0" anchor="ctr"/>
          <a:lstStyle/>
          <a:p>
            <a:pPr marL="0" indent="0" algn="ctr">
              <a:buNone/>
            </a:pPr>
            <a:r>
              <a:rPr lang="en-US" sz="1200" b="1" dirty="0">
                <a:solidFill>
                  <a:srgbClr val="2A2A26"/>
                </a:solidFill>
                <a:latin typeface="Helvetica "/>
                <a:ea typeface="Cambria" pitchFamily="34" charset="-122"/>
                <a:cs typeface="Cambria" pitchFamily="34" charset="-120"/>
              </a:rPr>
              <a:t>3NF</a:t>
            </a:r>
            <a:endParaRPr lang="en-US" sz="1200" dirty="0">
              <a:latin typeface="Helvetica "/>
            </a:endParaRPr>
          </a:p>
        </p:txBody>
      </p:sp>
      <p:sp>
        <p:nvSpPr>
          <p:cNvPr id="35" name="Text 33"/>
          <p:cNvSpPr/>
          <p:nvPr/>
        </p:nvSpPr>
        <p:spPr>
          <a:xfrm>
            <a:off x="7498080" y="4160520"/>
            <a:ext cx="3977640" cy="822960"/>
          </a:xfrm>
          <a:prstGeom prst="rect">
            <a:avLst/>
          </a:prstGeom>
          <a:noFill/>
          <a:ln/>
        </p:spPr>
        <p:txBody>
          <a:bodyPr wrap="square" rtlCol="0" anchor="ctr"/>
          <a:lstStyle/>
          <a:p>
            <a:pPr marL="0" indent="0">
              <a:lnSpc>
                <a:spcPts val="1600"/>
              </a:lnSpc>
              <a:buNone/>
            </a:pPr>
            <a:r>
              <a:rPr lang="en-US" sz="1250" dirty="0">
                <a:solidFill>
                  <a:srgbClr val="E4E9DC"/>
                </a:solidFill>
                <a:latin typeface="Helvetica "/>
                <a:ea typeface="Calibri" pitchFamily="34" charset="-122"/>
                <a:cs typeface="Calibri" pitchFamily="34" charset="-120"/>
              </a:rPr>
              <a:t>No transitive dependencies — crop and buyer details live only in CROP/BUYER, never duplicated in HARVEST or SALE</a:t>
            </a:r>
            <a:endParaRPr lang="en-US" sz="1250" dirty="0">
              <a:latin typeface="Helvetica "/>
            </a:endParaRPr>
          </a:p>
        </p:txBody>
      </p:sp>
      <p:sp>
        <p:nvSpPr>
          <p:cNvPr id="36" name="Text 34"/>
          <p:cNvSpPr/>
          <p:nvPr/>
        </p:nvSpPr>
        <p:spPr>
          <a:xfrm>
            <a:off x="640080" y="6510528"/>
            <a:ext cx="10972800" cy="274320"/>
          </a:xfrm>
          <a:prstGeom prst="rect">
            <a:avLst/>
          </a:prstGeom>
          <a:noFill/>
          <a:ln/>
        </p:spPr>
        <p:txBody>
          <a:bodyPr wrap="square" rtlCol="0" anchor="ctr"/>
          <a:lstStyle/>
          <a:p>
            <a:pPr marL="0" indent="0">
              <a:buNone/>
            </a:pPr>
            <a:r>
              <a:rPr lang="en-US" sz="950" dirty="0">
                <a:solidFill>
                  <a:srgbClr val="6B6B63"/>
                </a:solidFill>
                <a:latin typeface="Helvetica "/>
                <a:ea typeface="Calibri" pitchFamily="34" charset="-122"/>
                <a:cs typeface="Calibri" pitchFamily="34" charset="-120"/>
              </a:rPr>
              <a:t>Farmer Produce &amp; Market Supply Chain Management System   |   3 / 3</a:t>
            </a:r>
            <a:endParaRPr lang="en-US" sz="950" dirty="0">
              <a:latin typeface="Helvetica "/>
            </a:endParaRPr>
          </a:p>
        </p:txBody>
      </p:sp>
    </p:spTree>
    <p:extLst>
      <p:ext uri="{BB962C8B-B14F-4D97-AF65-F5344CB8AC3E}">
        <p14:creationId xmlns:p14="http://schemas.microsoft.com/office/powerpoint/2010/main" val="39389019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F3D22"/>
          </a:solidFill>
          <a:ln/>
        </p:spPr>
      </p:sp>
      <p:sp>
        <p:nvSpPr>
          <p:cNvPr id="3" name="Text 1"/>
          <p:cNvSpPr/>
          <p:nvPr/>
        </p:nvSpPr>
        <p:spPr>
          <a:xfrm>
            <a:off x="640080" y="128016"/>
            <a:ext cx="7315200" cy="274320"/>
          </a:xfrm>
          <a:prstGeom prst="rect">
            <a:avLst/>
          </a:prstGeom>
          <a:noFill/>
          <a:ln/>
        </p:spPr>
        <p:txBody>
          <a:bodyPr wrap="square" rtlCol="0" anchor="ctr"/>
          <a:lstStyle/>
          <a:p>
            <a:pPr marL="0" indent="0">
              <a:buNone/>
            </a:pPr>
            <a:r>
              <a:rPr lang="en-US" sz="1100" b="1" kern="0" spc="150" dirty="0">
                <a:solidFill>
                  <a:srgbClr val="D9A441"/>
                </a:solidFill>
                <a:latin typeface="Helvetica "/>
                <a:ea typeface="Calibri" pitchFamily="34" charset="-122"/>
                <a:cs typeface="Calibri" pitchFamily="34" charset="-120"/>
              </a:rPr>
              <a:t>05 · SCHEMA &amp; PL/SQL</a:t>
            </a:r>
            <a:endParaRPr lang="en-US" sz="1100" dirty="0">
              <a:latin typeface="Helvetica "/>
            </a:endParaRPr>
          </a:p>
        </p:txBody>
      </p:sp>
      <p:sp>
        <p:nvSpPr>
          <p:cNvPr id="4" name="Text 2"/>
          <p:cNvSpPr/>
          <p:nvPr/>
        </p:nvSpPr>
        <p:spPr>
          <a:xfrm>
            <a:off x="640080" y="365760"/>
            <a:ext cx="9601200" cy="548640"/>
          </a:xfrm>
          <a:prstGeom prst="rect">
            <a:avLst/>
          </a:prstGeom>
          <a:noFill/>
          <a:ln/>
        </p:spPr>
        <p:txBody>
          <a:bodyPr wrap="square" rtlCol="0" anchor="ctr"/>
          <a:lstStyle/>
          <a:p>
            <a:pPr marL="0" indent="0">
              <a:buNone/>
            </a:pPr>
            <a:r>
              <a:rPr lang="en-US" sz="2400" b="1" dirty="0">
                <a:solidFill>
                  <a:srgbClr val="FFFFFF"/>
                </a:solidFill>
                <a:latin typeface="Helvetica "/>
                <a:ea typeface="Cambria" pitchFamily="34" charset="-122"/>
                <a:cs typeface="Cambria" pitchFamily="34" charset="-120"/>
              </a:rPr>
              <a:t>Implementation</a:t>
            </a:r>
            <a:endParaRPr lang="en-US" sz="2400" dirty="0">
              <a:latin typeface="Helvetica "/>
            </a:endParaRPr>
          </a:p>
        </p:txBody>
      </p:sp>
      <p:sp>
        <p:nvSpPr>
          <p:cNvPr id="5" name="Text 3"/>
          <p:cNvSpPr/>
          <p:nvPr/>
        </p:nvSpPr>
        <p:spPr>
          <a:xfrm>
            <a:off x="10698480" y="320040"/>
            <a:ext cx="1188720" cy="320040"/>
          </a:xfrm>
          <a:prstGeom prst="rect">
            <a:avLst/>
          </a:prstGeom>
          <a:noFill/>
          <a:ln/>
        </p:spPr>
        <p:txBody>
          <a:bodyPr wrap="square" rtlCol="0" anchor="ctr"/>
          <a:lstStyle/>
          <a:p>
            <a:pPr marL="0" indent="0" algn="r">
              <a:buNone/>
            </a:pPr>
            <a:r>
              <a:rPr lang="en-US" sz="1050" dirty="0">
                <a:solidFill>
                  <a:srgbClr val="9FB48A"/>
                </a:solidFill>
                <a:latin typeface="Calibri" pitchFamily="34" charset="0"/>
                <a:ea typeface="Calibri" pitchFamily="34" charset="-122"/>
                <a:cs typeface="Calibri" pitchFamily="34" charset="-120"/>
              </a:rPr>
              <a:t>DPR400210</a:t>
            </a:r>
            <a:endParaRPr lang="en-US" sz="1050" dirty="0"/>
          </a:p>
        </p:txBody>
      </p:sp>
      <p:sp>
        <p:nvSpPr>
          <p:cNvPr id="6" name="Shape 4"/>
          <p:cNvSpPr/>
          <p:nvPr/>
        </p:nvSpPr>
        <p:spPr>
          <a:xfrm>
            <a:off x="548640" y="1280160"/>
            <a:ext cx="5760720" cy="5029200"/>
          </a:xfrm>
          <a:prstGeom prst="roundRect">
            <a:avLst>
              <a:gd name="adj" fmla="val 2182"/>
            </a:avLst>
          </a:prstGeom>
          <a:solidFill>
            <a:srgbClr val="F3F6EE"/>
          </a:solidFill>
          <a:ln/>
        </p:spPr>
      </p:sp>
      <p:sp>
        <p:nvSpPr>
          <p:cNvPr id="7" name="Text 5"/>
          <p:cNvSpPr/>
          <p:nvPr/>
        </p:nvSpPr>
        <p:spPr>
          <a:xfrm>
            <a:off x="868680" y="1508760"/>
            <a:ext cx="5120640" cy="411480"/>
          </a:xfrm>
          <a:prstGeom prst="rect">
            <a:avLst/>
          </a:prstGeom>
          <a:noFill/>
          <a:ln/>
        </p:spPr>
        <p:txBody>
          <a:bodyPr wrap="square" rtlCol="0" anchor="ctr"/>
          <a:lstStyle/>
          <a:p>
            <a:pPr marL="0" indent="0">
              <a:buNone/>
            </a:pPr>
            <a:r>
              <a:rPr lang="en-US" sz="1700" b="1" dirty="0">
                <a:solidFill>
                  <a:srgbClr val="1F3D22"/>
                </a:solidFill>
                <a:latin typeface="Cambria" pitchFamily="34" charset="0"/>
                <a:ea typeface="Cambria" pitchFamily="34" charset="-122"/>
                <a:cs typeface="Cambria" pitchFamily="34" charset="-120"/>
              </a:rPr>
              <a:t>Schema Layer</a:t>
            </a:r>
            <a:endParaRPr lang="en-US" sz="1700" dirty="0"/>
          </a:p>
        </p:txBody>
      </p:sp>
      <p:sp>
        <p:nvSpPr>
          <p:cNvPr id="8" name="Shape 6"/>
          <p:cNvSpPr/>
          <p:nvPr/>
        </p:nvSpPr>
        <p:spPr>
          <a:xfrm>
            <a:off x="868680" y="2139696"/>
            <a:ext cx="118872" cy="118872"/>
          </a:xfrm>
          <a:prstGeom prst="ellipse">
            <a:avLst/>
          </a:prstGeom>
          <a:solidFill>
            <a:srgbClr val="6E9B4E"/>
          </a:solidFill>
          <a:ln/>
        </p:spPr>
      </p:sp>
      <p:sp>
        <p:nvSpPr>
          <p:cNvPr id="9" name="Text 7"/>
          <p:cNvSpPr/>
          <p:nvPr/>
        </p:nvSpPr>
        <p:spPr>
          <a:xfrm>
            <a:off x="1143000" y="1984248"/>
            <a:ext cx="4846320" cy="594360"/>
          </a:xfrm>
          <a:prstGeom prst="rect">
            <a:avLst/>
          </a:prstGeom>
          <a:noFill/>
          <a:ln/>
        </p:spPr>
        <p:txBody>
          <a:bodyPr wrap="square" rtlCol="0" anchor="ctr"/>
          <a:lstStyle/>
          <a:p>
            <a:pPr marL="0" indent="0">
              <a:lnSpc>
                <a:spcPts val="1700"/>
              </a:lnSpc>
              <a:buNone/>
            </a:pPr>
            <a:r>
              <a:rPr lang="en-US" sz="1300" dirty="0">
                <a:solidFill>
                  <a:srgbClr val="2A2A26"/>
                </a:solidFill>
                <a:latin typeface="Helvetica "/>
                <a:ea typeface="Calibri" pitchFamily="34" charset="-122"/>
                <a:cs typeface="Calibri" pitchFamily="34" charset="-120"/>
              </a:rPr>
              <a:t>9 tables with PK / FK / UNIQUE / CHECK / NOT NULL constraints</a:t>
            </a:r>
            <a:endParaRPr lang="en-US" sz="1300" dirty="0">
              <a:latin typeface="Helvetica "/>
            </a:endParaRPr>
          </a:p>
        </p:txBody>
      </p:sp>
      <p:sp>
        <p:nvSpPr>
          <p:cNvPr id="10" name="Shape 8"/>
          <p:cNvSpPr/>
          <p:nvPr/>
        </p:nvSpPr>
        <p:spPr>
          <a:xfrm>
            <a:off x="868680" y="2916936"/>
            <a:ext cx="118872" cy="118872"/>
          </a:xfrm>
          <a:prstGeom prst="ellipse">
            <a:avLst/>
          </a:prstGeom>
          <a:solidFill>
            <a:srgbClr val="6E9B4E"/>
          </a:solidFill>
          <a:ln/>
        </p:spPr>
      </p:sp>
      <p:sp>
        <p:nvSpPr>
          <p:cNvPr id="11" name="Text 9"/>
          <p:cNvSpPr/>
          <p:nvPr/>
        </p:nvSpPr>
        <p:spPr>
          <a:xfrm>
            <a:off x="1143000" y="2761488"/>
            <a:ext cx="4846320" cy="594360"/>
          </a:xfrm>
          <a:prstGeom prst="rect">
            <a:avLst/>
          </a:prstGeom>
          <a:noFill/>
          <a:ln/>
        </p:spPr>
        <p:txBody>
          <a:bodyPr wrap="square" rtlCol="0" anchor="ctr"/>
          <a:lstStyle/>
          <a:p>
            <a:pPr marL="0" indent="0">
              <a:lnSpc>
                <a:spcPts val="1700"/>
              </a:lnSpc>
              <a:buNone/>
            </a:pPr>
            <a:r>
              <a:rPr lang="en-US" sz="1300" dirty="0">
                <a:solidFill>
                  <a:srgbClr val="2A2A26"/>
                </a:solidFill>
                <a:latin typeface="Helvetica "/>
                <a:ea typeface="Calibri" pitchFamily="34" charset="-122"/>
                <a:cs typeface="Calibri" pitchFamily="34" charset="-120"/>
              </a:rPr>
              <a:t>9 sequences driving surrogate primary keys</a:t>
            </a:r>
            <a:endParaRPr lang="en-US" sz="1300" dirty="0">
              <a:latin typeface="Helvetica "/>
            </a:endParaRPr>
          </a:p>
        </p:txBody>
      </p:sp>
      <p:sp>
        <p:nvSpPr>
          <p:cNvPr id="12" name="Shape 10"/>
          <p:cNvSpPr/>
          <p:nvPr/>
        </p:nvSpPr>
        <p:spPr>
          <a:xfrm>
            <a:off x="868680" y="3694176"/>
            <a:ext cx="118872" cy="118872"/>
          </a:xfrm>
          <a:prstGeom prst="ellipse">
            <a:avLst/>
          </a:prstGeom>
          <a:solidFill>
            <a:srgbClr val="6E9B4E"/>
          </a:solidFill>
          <a:ln/>
        </p:spPr>
      </p:sp>
      <p:sp>
        <p:nvSpPr>
          <p:cNvPr id="13" name="Text 11"/>
          <p:cNvSpPr/>
          <p:nvPr/>
        </p:nvSpPr>
        <p:spPr>
          <a:xfrm>
            <a:off x="1143000" y="3538728"/>
            <a:ext cx="4846320" cy="594360"/>
          </a:xfrm>
          <a:prstGeom prst="rect">
            <a:avLst/>
          </a:prstGeom>
          <a:noFill/>
          <a:ln/>
        </p:spPr>
        <p:txBody>
          <a:bodyPr wrap="square" rtlCol="0" anchor="ctr"/>
          <a:lstStyle/>
          <a:p>
            <a:pPr marL="0" indent="0">
              <a:lnSpc>
                <a:spcPts val="1700"/>
              </a:lnSpc>
              <a:buNone/>
            </a:pPr>
            <a:r>
              <a:rPr lang="en-US" sz="1300" dirty="0">
                <a:solidFill>
                  <a:srgbClr val="2A2A26"/>
                </a:solidFill>
                <a:latin typeface="Helvetica "/>
                <a:ea typeface="Calibri" pitchFamily="34" charset="-122"/>
                <a:cs typeface="Calibri" pitchFamily="34" charset="-120"/>
              </a:rPr>
              <a:t>Referential integrity enforced across the full sale chain</a:t>
            </a:r>
            <a:endParaRPr lang="en-US" sz="1300" dirty="0">
              <a:latin typeface="Helvetica "/>
            </a:endParaRPr>
          </a:p>
        </p:txBody>
      </p:sp>
      <p:sp>
        <p:nvSpPr>
          <p:cNvPr id="14" name="Shape 12"/>
          <p:cNvSpPr/>
          <p:nvPr/>
        </p:nvSpPr>
        <p:spPr>
          <a:xfrm>
            <a:off x="868680" y="4434840"/>
            <a:ext cx="5120640" cy="0"/>
          </a:xfrm>
          <a:prstGeom prst="line">
            <a:avLst/>
          </a:prstGeom>
          <a:noFill/>
          <a:ln w="12700">
            <a:solidFill>
              <a:srgbClr val="D8DECB"/>
            </a:solidFill>
            <a:prstDash val="solid"/>
          </a:ln>
        </p:spPr>
      </p:sp>
      <p:sp>
        <p:nvSpPr>
          <p:cNvPr id="15" name="Text 13"/>
          <p:cNvSpPr/>
          <p:nvPr/>
        </p:nvSpPr>
        <p:spPr>
          <a:xfrm>
            <a:off x="868680" y="4572000"/>
            <a:ext cx="4572000" cy="320040"/>
          </a:xfrm>
          <a:prstGeom prst="rect">
            <a:avLst/>
          </a:prstGeom>
          <a:noFill/>
          <a:ln/>
        </p:spPr>
        <p:txBody>
          <a:bodyPr wrap="square" rtlCol="0" anchor="ctr"/>
          <a:lstStyle/>
          <a:p>
            <a:pPr marL="0" indent="0">
              <a:buNone/>
            </a:pPr>
            <a:r>
              <a:rPr lang="en-US" sz="1350" b="1" dirty="0">
                <a:solidFill>
                  <a:srgbClr val="1F3D22"/>
                </a:solidFill>
                <a:latin typeface="Helvetica "/>
                <a:ea typeface="Cambria" pitchFamily="34" charset="-122"/>
                <a:cs typeface="Cambria" pitchFamily="34" charset="-120"/>
              </a:rPr>
              <a:t>Sample constraint</a:t>
            </a:r>
            <a:endParaRPr lang="en-US" sz="1350" dirty="0">
              <a:latin typeface="Helvetica "/>
            </a:endParaRPr>
          </a:p>
        </p:txBody>
      </p:sp>
      <p:sp>
        <p:nvSpPr>
          <p:cNvPr id="16" name="Text 14"/>
          <p:cNvSpPr/>
          <p:nvPr/>
        </p:nvSpPr>
        <p:spPr>
          <a:xfrm>
            <a:off x="868680" y="4937760"/>
            <a:ext cx="5120640" cy="365760"/>
          </a:xfrm>
          <a:prstGeom prst="rect">
            <a:avLst/>
          </a:prstGeom>
          <a:noFill/>
          <a:ln/>
        </p:spPr>
        <p:txBody>
          <a:bodyPr wrap="square" rtlCol="0" anchor="ctr"/>
          <a:lstStyle/>
          <a:p>
            <a:pPr marL="0" indent="0">
              <a:buNone/>
            </a:pPr>
            <a:r>
              <a:rPr lang="en-US" sz="1150" dirty="0">
                <a:solidFill>
                  <a:srgbClr val="2A2A26"/>
                </a:solidFill>
                <a:latin typeface="Helvetica "/>
                <a:ea typeface="Courier New" pitchFamily="34" charset="-122"/>
                <a:cs typeface="Courier New" pitchFamily="34" charset="-120"/>
              </a:rPr>
              <a:t>CONSTRAINT chk_sale_qty CHECK (quantity_sold &gt; 0)</a:t>
            </a:r>
            <a:endParaRPr lang="en-US" sz="1150" dirty="0">
              <a:latin typeface="Helvetica "/>
            </a:endParaRPr>
          </a:p>
        </p:txBody>
      </p:sp>
      <p:sp>
        <p:nvSpPr>
          <p:cNvPr id="17" name="Shape 15"/>
          <p:cNvSpPr/>
          <p:nvPr/>
        </p:nvSpPr>
        <p:spPr>
          <a:xfrm>
            <a:off x="6537960" y="1280160"/>
            <a:ext cx="5120640" cy="5029200"/>
          </a:xfrm>
          <a:prstGeom prst="roundRect">
            <a:avLst>
              <a:gd name="adj" fmla="val 2182"/>
            </a:avLst>
          </a:prstGeom>
          <a:solidFill>
            <a:srgbClr val="1F3D22"/>
          </a:solidFill>
          <a:ln/>
        </p:spPr>
      </p:sp>
      <p:sp>
        <p:nvSpPr>
          <p:cNvPr id="18" name="Text 16"/>
          <p:cNvSpPr/>
          <p:nvPr/>
        </p:nvSpPr>
        <p:spPr>
          <a:xfrm>
            <a:off x="6858000" y="1508760"/>
            <a:ext cx="4389120" cy="411480"/>
          </a:xfrm>
          <a:prstGeom prst="rect">
            <a:avLst/>
          </a:prstGeom>
          <a:noFill/>
          <a:ln/>
        </p:spPr>
        <p:txBody>
          <a:bodyPr wrap="square" rtlCol="0" anchor="ctr"/>
          <a:lstStyle/>
          <a:p>
            <a:pPr marL="0" indent="0">
              <a:buNone/>
            </a:pPr>
            <a:r>
              <a:rPr lang="en-US" sz="1700" b="1" dirty="0">
                <a:solidFill>
                  <a:srgbClr val="FFFFFF"/>
                </a:solidFill>
                <a:latin typeface="Helvetica "/>
                <a:ea typeface="Cambria" pitchFamily="34" charset="-122"/>
                <a:cs typeface="Cambria" pitchFamily="34" charset="-120"/>
              </a:rPr>
              <a:t>PL/SQL Layer</a:t>
            </a:r>
            <a:endParaRPr lang="en-US" sz="1700" dirty="0">
              <a:latin typeface="Helvetica "/>
            </a:endParaRPr>
          </a:p>
        </p:txBody>
      </p:sp>
      <p:sp>
        <p:nvSpPr>
          <p:cNvPr id="19" name="Shape 17"/>
          <p:cNvSpPr/>
          <p:nvPr/>
        </p:nvSpPr>
        <p:spPr>
          <a:xfrm>
            <a:off x="6858000" y="2139696"/>
            <a:ext cx="118872" cy="118872"/>
          </a:xfrm>
          <a:prstGeom prst="ellipse">
            <a:avLst/>
          </a:prstGeom>
          <a:solidFill>
            <a:srgbClr val="D9A441"/>
          </a:solidFill>
          <a:ln/>
        </p:spPr>
      </p:sp>
      <p:sp>
        <p:nvSpPr>
          <p:cNvPr id="20" name="Text 18"/>
          <p:cNvSpPr/>
          <p:nvPr/>
        </p:nvSpPr>
        <p:spPr>
          <a:xfrm>
            <a:off x="7150608" y="1984248"/>
            <a:ext cx="4343400" cy="594360"/>
          </a:xfrm>
          <a:prstGeom prst="rect">
            <a:avLst/>
          </a:prstGeom>
          <a:noFill/>
          <a:ln/>
        </p:spPr>
        <p:txBody>
          <a:bodyPr wrap="square" rtlCol="0" anchor="ctr"/>
          <a:lstStyle/>
          <a:p>
            <a:pPr marL="0" indent="0">
              <a:lnSpc>
                <a:spcPts val="1700"/>
              </a:lnSpc>
              <a:buNone/>
            </a:pPr>
            <a:r>
              <a:rPr lang="en-US" sz="1300" dirty="0">
                <a:solidFill>
                  <a:srgbClr val="E4E9DC"/>
                </a:solidFill>
                <a:latin typeface="Helvetica "/>
                <a:ea typeface="Calibri" pitchFamily="34" charset="-122"/>
                <a:cs typeface="Calibri" pitchFamily="34" charset="-120"/>
              </a:rPr>
              <a:t>farm_pkg package: register_harvest, record_sale, process_payment</a:t>
            </a:r>
            <a:endParaRPr lang="en-US" sz="1300" dirty="0">
              <a:latin typeface="Helvetica "/>
            </a:endParaRPr>
          </a:p>
        </p:txBody>
      </p:sp>
      <p:sp>
        <p:nvSpPr>
          <p:cNvPr id="21" name="Shape 19"/>
          <p:cNvSpPr/>
          <p:nvPr/>
        </p:nvSpPr>
        <p:spPr>
          <a:xfrm>
            <a:off x="6858000" y="2916936"/>
            <a:ext cx="118872" cy="118872"/>
          </a:xfrm>
          <a:prstGeom prst="ellipse">
            <a:avLst/>
          </a:prstGeom>
          <a:solidFill>
            <a:srgbClr val="D9A441"/>
          </a:solidFill>
          <a:ln/>
        </p:spPr>
      </p:sp>
      <p:sp>
        <p:nvSpPr>
          <p:cNvPr id="22" name="Text 20"/>
          <p:cNvSpPr/>
          <p:nvPr/>
        </p:nvSpPr>
        <p:spPr>
          <a:xfrm>
            <a:off x="7150608" y="2761488"/>
            <a:ext cx="4343400" cy="594360"/>
          </a:xfrm>
          <a:prstGeom prst="rect">
            <a:avLst/>
          </a:prstGeom>
          <a:noFill/>
          <a:ln/>
        </p:spPr>
        <p:txBody>
          <a:bodyPr wrap="square" rtlCol="0" anchor="ctr"/>
          <a:lstStyle/>
          <a:p>
            <a:pPr marL="0" indent="0">
              <a:lnSpc>
                <a:spcPts val="1700"/>
              </a:lnSpc>
              <a:buNone/>
            </a:pPr>
            <a:r>
              <a:rPr lang="en-US" sz="1300" dirty="0">
                <a:solidFill>
                  <a:srgbClr val="E4E9DC"/>
                </a:solidFill>
                <a:latin typeface="Helvetica "/>
                <a:ea typeface="Calibri" pitchFamily="34" charset="-122"/>
                <a:cs typeface="Calibri" pitchFamily="34" charset="-120"/>
              </a:rPr>
              <a:t>Function calc_sale_total() and get_farmer_revenue()</a:t>
            </a:r>
            <a:endParaRPr lang="en-US" sz="1300" dirty="0">
              <a:latin typeface="Helvetica "/>
            </a:endParaRPr>
          </a:p>
        </p:txBody>
      </p:sp>
      <p:sp>
        <p:nvSpPr>
          <p:cNvPr id="23" name="Shape 21"/>
          <p:cNvSpPr/>
          <p:nvPr/>
        </p:nvSpPr>
        <p:spPr>
          <a:xfrm>
            <a:off x="6858000" y="3694176"/>
            <a:ext cx="118872" cy="118872"/>
          </a:xfrm>
          <a:prstGeom prst="ellipse">
            <a:avLst/>
          </a:prstGeom>
          <a:solidFill>
            <a:srgbClr val="D9A441"/>
          </a:solidFill>
          <a:ln/>
        </p:spPr>
      </p:sp>
      <p:sp>
        <p:nvSpPr>
          <p:cNvPr id="24" name="Text 22"/>
          <p:cNvSpPr/>
          <p:nvPr/>
        </p:nvSpPr>
        <p:spPr>
          <a:xfrm>
            <a:off x="7150608" y="3538728"/>
            <a:ext cx="4343400" cy="594360"/>
          </a:xfrm>
          <a:prstGeom prst="rect">
            <a:avLst/>
          </a:prstGeom>
          <a:noFill/>
          <a:ln/>
        </p:spPr>
        <p:txBody>
          <a:bodyPr wrap="square" rtlCol="0" anchor="ctr"/>
          <a:lstStyle/>
          <a:p>
            <a:pPr marL="0" indent="0">
              <a:lnSpc>
                <a:spcPts val="1700"/>
              </a:lnSpc>
              <a:buNone/>
            </a:pPr>
            <a:r>
              <a:rPr lang="en-US" sz="1300" dirty="0">
                <a:solidFill>
                  <a:srgbClr val="E4E9DC"/>
                </a:solidFill>
                <a:latin typeface="Helvetica "/>
                <a:ea typeface="Calibri" pitchFamily="34" charset="-122"/>
                <a:cs typeface="Calibri" pitchFamily="34" charset="-120"/>
              </a:rPr>
              <a:t>Explicit cursor listing all unpaid sales</a:t>
            </a:r>
            <a:endParaRPr lang="en-US" sz="1300" dirty="0">
              <a:latin typeface="Helvetica "/>
            </a:endParaRPr>
          </a:p>
        </p:txBody>
      </p:sp>
      <p:sp>
        <p:nvSpPr>
          <p:cNvPr id="25" name="Shape 23"/>
          <p:cNvSpPr/>
          <p:nvPr/>
        </p:nvSpPr>
        <p:spPr>
          <a:xfrm>
            <a:off x="6858000" y="4471416"/>
            <a:ext cx="118872" cy="118872"/>
          </a:xfrm>
          <a:prstGeom prst="ellipse">
            <a:avLst/>
          </a:prstGeom>
          <a:solidFill>
            <a:srgbClr val="D9A441"/>
          </a:solidFill>
          <a:ln/>
        </p:spPr>
      </p:sp>
      <p:sp>
        <p:nvSpPr>
          <p:cNvPr id="26" name="Text 24"/>
          <p:cNvSpPr/>
          <p:nvPr/>
        </p:nvSpPr>
        <p:spPr>
          <a:xfrm>
            <a:off x="7150608" y="4315968"/>
            <a:ext cx="4343400" cy="594360"/>
          </a:xfrm>
          <a:prstGeom prst="rect">
            <a:avLst/>
          </a:prstGeom>
          <a:noFill/>
          <a:ln/>
        </p:spPr>
        <p:txBody>
          <a:bodyPr wrap="square" rtlCol="0" anchor="ctr"/>
          <a:lstStyle/>
          <a:p>
            <a:pPr marL="0" indent="0">
              <a:lnSpc>
                <a:spcPts val="1700"/>
              </a:lnSpc>
              <a:buNone/>
            </a:pPr>
            <a:r>
              <a:rPr lang="en-US" sz="1300" dirty="0">
                <a:solidFill>
                  <a:srgbClr val="E4E9DC"/>
                </a:solidFill>
                <a:latin typeface="Helvetica "/>
                <a:ea typeface="Calibri" pitchFamily="34" charset="-122"/>
                <a:cs typeface="Calibri" pitchFamily="34" charset="-120"/>
              </a:rPr>
              <a:t>Custom exception e_insufficient_qty + system exception handling</a:t>
            </a:r>
            <a:endParaRPr lang="en-US" sz="1300" dirty="0">
              <a:latin typeface="Helvetica "/>
            </a:endParaRPr>
          </a:p>
        </p:txBody>
      </p:sp>
      <p:sp>
        <p:nvSpPr>
          <p:cNvPr id="27" name="Text 25"/>
          <p:cNvSpPr/>
          <p:nvPr/>
        </p:nvSpPr>
        <p:spPr>
          <a:xfrm>
            <a:off x="640080" y="6510528"/>
            <a:ext cx="10972800" cy="274320"/>
          </a:xfrm>
          <a:prstGeom prst="rect">
            <a:avLst/>
          </a:prstGeom>
          <a:noFill/>
          <a:ln/>
        </p:spPr>
        <p:txBody>
          <a:bodyPr wrap="square" rtlCol="0" anchor="ctr"/>
          <a:lstStyle/>
          <a:p>
            <a:pPr marL="0" indent="0">
              <a:buNone/>
            </a:pPr>
            <a:r>
              <a:rPr lang="en-US" sz="950" dirty="0">
                <a:solidFill>
                  <a:srgbClr val="6B6B63"/>
                </a:solidFill>
                <a:latin typeface="Calibri" pitchFamily="34" charset="0"/>
                <a:ea typeface="Calibri" pitchFamily="34" charset="-122"/>
                <a:cs typeface="Calibri" pitchFamily="34" charset="-120"/>
              </a:rPr>
              <a:t>Farmer Produce &amp; Market Supply Chain Management System   |   6 / 10</a:t>
            </a:r>
            <a:endParaRPr lang="en-US" sz="95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F3D22"/>
          </a:solidFill>
          <a:ln/>
        </p:spPr>
      </p:sp>
      <p:sp>
        <p:nvSpPr>
          <p:cNvPr id="3" name="Text 1"/>
          <p:cNvSpPr/>
          <p:nvPr/>
        </p:nvSpPr>
        <p:spPr>
          <a:xfrm>
            <a:off x="640080" y="128016"/>
            <a:ext cx="7315200" cy="274320"/>
          </a:xfrm>
          <a:prstGeom prst="rect">
            <a:avLst/>
          </a:prstGeom>
          <a:noFill/>
          <a:ln/>
        </p:spPr>
        <p:txBody>
          <a:bodyPr wrap="square" rtlCol="0" anchor="ctr"/>
          <a:lstStyle/>
          <a:p>
            <a:pPr marL="0" indent="0">
              <a:buNone/>
            </a:pPr>
            <a:r>
              <a:rPr lang="en-US" sz="1100" b="1" kern="0" spc="150" dirty="0">
                <a:solidFill>
                  <a:srgbClr val="D9A441"/>
                </a:solidFill>
                <a:latin typeface="Helvetica "/>
                <a:ea typeface="Calibri" pitchFamily="34" charset="-122"/>
                <a:cs typeface="Calibri" pitchFamily="34" charset="-120"/>
              </a:rPr>
              <a:t>06 · TRIGGERS &amp; SECURITY</a:t>
            </a:r>
            <a:endParaRPr lang="en-US" sz="1100" dirty="0">
              <a:latin typeface="Helvetica "/>
            </a:endParaRPr>
          </a:p>
        </p:txBody>
      </p:sp>
      <p:sp>
        <p:nvSpPr>
          <p:cNvPr id="4" name="Text 2"/>
          <p:cNvSpPr/>
          <p:nvPr/>
        </p:nvSpPr>
        <p:spPr>
          <a:xfrm>
            <a:off x="640080" y="365760"/>
            <a:ext cx="9601200" cy="548640"/>
          </a:xfrm>
          <a:prstGeom prst="rect">
            <a:avLst/>
          </a:prstGeom>
          <a:noFill/>
          <a:ln/>
        </p:spPr>
        <p:txBody>
          <a:bodyPr wrap="square" rtlCol="0" anchor="ctr"/>
          <a:lstStyle/>
          <a:p>
            <a:pPr marL="0" indent="0">
              <a:buNone/>
            </a:pPr>
            <a:r>
              <a:rPr lang="en-US" sz="2400" b="1" dirty="0">
                <a:solidFill>
                  <a:srgbClr val="FFFFFF"/>
                </a:solidFill>
                <a:latin typeface="Helvetica "/>
                <a:ea typeface="Cambria" pitchFamily="34" charset="-122"/>
                <a:cs typeface="Cambria" pitchFamily="34" charset="-120"/>
              </a:rPr>
              <a:t>Implementation</a:t>
            </a:r>
            <a:endParaRPr lang="en-US" sz="2400" dirty="0">
              <a:latin typeface="Helvetica "/>
            </a:endParaRPr>
          </a:p>
        </p:txBody>
      </p:sp>
      <p:sp>
        <p:nvSpPr>
          <p:cNvPr id="5" name="Text 3"/>
          <p:cNvSpPr/>
          <p:nvPr/>
        </p:nvSpPr>
        <p:spPr>
          <a:xfrm>
            <a:off x="10698480" y="320040"/>
            <a:ext cx="1188720" cy="320040"/>
          </a:xfrm>
          <a:prstGeom prst="rect">
            <a:avLst/>
          </a:prstGeom>
          <a:noFill/>
          <a:ln/>
        </p:spPr>
        <p:txBody>
          <a:bodyPr wrap="square" rtlCol="0" anchor="ctr"/>
          <a:lstStyle/>
          <a:p>
            <a:pPr marL="0" indent="0" algn="r">
              <a:buNone/>
            </a:pPr>
            <a:r>
              <a:rPr lang="en-US" sz="1050" dirty="0">
                <a:solidFill>
                  <a:srgbClr val="9FB48A"/>
                </a:solidFill>
                <a:latin typeface="Calibri" pitchFamily="34" charset="0"/>
                <a:ea typeface="Calibri" pitchFamily="34" charset="-122"/>
                <a:cs typeface="Calibri" pitchFamily="34" charset="-120"/>
              </a:rPr>
              <a:t>DPR400210</a:t>
            </a:r>
            <a:endParaRPr lang="en-US" sz="1050" dirty="0"/>
          </a:p>
        </p:txBody>
      </p:sp>
      <p:sp>
        <p:nvSpPr>
          <p:cNvPr id="6" name="Shape 4"/>
          <p:cNvSpPr/>
          <p:nvPr/>
        </p:nvSpPr>
        <p:spPr>
          <a:xfrm>
            <a:off x="548640" y="1280160"/>
            <a:ext cx="5760720" cy="5029200"/>
          </a:xfrm>
          <a:prstGeom prst="roundRect">
            <a:avLst>
              <a:gd name="adj" fmla="val 2182"/>
            </a:avLst>
          </a:prstGeom>
          <a:solidFill>
            <a:srgbClr val="F3F6EE"/>
          </a:solidFill>
          <a:ln/>
        </p:spPr>
      </p:sp>
      <p:pic>
        <p:nvPicPr>
          <p:cNvPr id="7" name="Image 0" descr="/home/claude/farmdb/icon_shield.png"/>
          <p:cNvPicPr>
            <a:picLocks noChangeAspect="1"/>
          </p:cNvPicPr>
          <p:nvPr/>
        </p:nvPicPr>
        <p:blipFill>
          <a:blip r:embed="rId3"/>
          <a:stretch>
            <a:fillRect/>
          </a:stretch>
        </p:blipFill>
        <p:spPr>
          <a:xfrm>
            <a:off x="914400" y="1737360"/>
            <a:ext cx="292608" cy="292608"/>
          </a:xfrm>
          <a:prstGeom prst="rect">
            <a:avLst/>
          </a:prstGeom>
        </p:spPr>
      </p:pic>
      <p:sp>
        <p:nvSpPr>
          <p:cNvPr id="8" name="Shape 5"/>
          <p:cNvSpPr/>
          <p:nvPr/>
        </p:nvSpPr>
        <p:spPr>
          <a:xfrm>
            <a:off x="850392" y="1673352"/>
            <a:ext cx="566928" cy="566928"/>
          </a:xfrm>
          <a:prstGeom prst="ellipse">
            <a:avLst/>
          </a:prstGeom>
          <a:solidFill>
            <a:srgbClr val="6E9B4E"/>
          </a:solidFill>
          <a:ln/>
        </p:spPr>
      </p:sp>
      <p:pic>
        <p:nvPicPr>
          <p:cNvPr id="9" name="Image 1" descr="/home/claude/farmdb/icon_shield.png"/>
          <p:cNvPicPr>
            <a:picLocks noChangeAspect="1"/>
          </p:cNvPicPr>
          <p:nvPr/>
        </p:nvPicPr>
        <p:blipFill>
          <a:blip r:embed="rId3"/>
          <a:stretch>
            <a:fillRect/>
          </a:stretch>
        </p:blipFill>
        <p:spPr>
          <a:xfrm>
            <a:off x="987552" y="1810512"/>
            <a:ext cx="292608" cy="292608"/>
          </a:xfrm>
          <a:prstGeom prst="rect">
            <a:avLst/>
          </a:prstGeom>
        </p:spPr>
      </p:pic>
      <p:sp>
        <p:nvSpPr>
          <p:cNvPr id="10" name="Text 6"/>
          <p:cNvSpPr/>
          <p:nvPr/>
        </p:nvSpPr>
        <p:spPr>
          <a:xfrm>
            <a:off x="1600200" y="1737360"/>
            <a:ext cx="4572000" cy="457200"/>
          </a:xfrm>
          <a:prstGeom prst="rect">
            <a:avLst/>
          </a:prstGeom>
          <a:noFill/>
          <a:ln/>
        </p:spPr>
        <p:txBody>
          <a:bodyPr wrap="square" rtlCol="0" anchor="ctr"/>
          <a:lstStyle/>
          <a:p>
            <a:pPr marL="0" indent="0">
              <a:buNone/>
            </a:pPr>
            <a:r>
              <a:rPr lang="en-US" sz="1600" b="1" dirty="0">
                <a:solidFill>
                  <a:srgbClr val="1F3D22"/>
                </a:solidFill>
                <a:latin typeface="Helvetica "/>
                <a:ea typeface="Cambria" pitchFamily="34" charset="-122"/>
                <a:cs typeface="Cambria" pitchFamily="34" charset="-120"/>
              </a:rPr>
              <a:t>Business Rule Trigger</a:t>
            </a:r>
            <a:endParaRPr lang="en-US" sz="1600" dirty="0">
              <a:latin typeface="Helvetica "/>
            </a:endParaRPr>
          </a:p>
        </p:txBody>
      </p:sp>
      <p:sp>
        <p:nvSpPr>
          <p:cNvPr id="11" name="Text 7"/>
          <p:cNvSpPr/>
          <p:nvPr/>
        </p:nvSpPr>
        <p:spPr>
          <a:xfrm>
            <a:off x="868680" y="2331720"/>
            <a:ext cx="5120640" cy="1005840"/>
          </a:xfrm>
          <a:prstGeom prst="rect">
            <a:avLst/>
          </a:prstGeom>
          <a:noFill/>
          <a:ln/>
        </p:spPr>
        <p:txBody>
          <a:bodyPr wrap="square" rtlCol="0" anchor="ctr"/>
          <a:lstStyle/>
          <a:p>
            <a:pPr marL="0" indent="0">
              <a:lnSpc>
                <a:spcPts val="1800"/>
              </a:lnSpc>
              <a:buNone/>
            </a:pPr>
            <a:r>
              <a:rPr lang="en-US" sz="1300" dirty="0">
                <a:solidFill>
                  <a:srgbClr val="2A2A26"/>
                </a:solidFill>
                <a:latin typeface="Helvetica "/>
                <a:ea typeface="Calibri" pitchFamily="34" charset="-122"/>
                <a:cs typeface="Calibri" pitchFamily="34" charset="-120"/>
              </a:rPr>
              <a:t>trg_sale_business_rule blocks any SALE insert, update, or delete on weekdays and on dates listed in PUBLIC_HOLIDAY — enforced at the database level, not just the application.</a:t>
            </a:r>
            <a:endParaRPr lang="en-US" sz="1300" dirty="0">
              <a:latin typeface="Helvetica "/>
            </a:endParaRPr>
          </a:p>
        </p:txBody>
      </p:sp>
      <p:sp>
        <p:nvSpPr>
          <p:cNvPr id="12" name="Shape 8"/>
          <p:cNvSpPr/>
          <p:nvPr/>
        </p:nvSpPr>
        <p:spPr>
          <a:xfrm>
            <a:off x="868680" y="3429000"/>
            <a:ext cx="5120640" cy="0"/>
          </a:xfrm>
          <a:prstGeom prst="line">
            <a:avLst/>
          </a:prstGeom>
          <a:noFill/>
          <a:ln w="12700">
            <a:solidFill>
              <a:srgbClr val="D8DECB"/>
            </a:solidFill>
            <a:prstDash val="solid"/>
          </a:ln>
        </p:spPr>
      </p:sp>
      <p:sp>
        <p:nvSpPr>
          <p:cNvPr id="13" name="Text 9"/>
          <p:cNvSpPr/>
          <p:nvPr/>
        </p:nvSpPr>
        <p:spPr>
          <a:xfrm>
            <a:off x="868680" y="3566160"/>
            <a:ext cx="4572000" cy="365760"/>
          </a:xfrm>
          <a:prstGeom prst="rect">
            <a:avLst/>
          </a:prstGeom>
          <a:noFill/>
          <a:ln/>
        </p:spPr>
        <p:txBody>
          <a:bodyPr wrap="square" rtlCol="0" anchor="ctr"/>
          <a:lstStyle/>
          <a:p>
            <a:pPr marL="0" indent="0">
              <a:buNone/>
            </a:pPr>
            <a:r>
              <a:rPr lang="en-US" sz="1500" b="1" dirty="0">
                <a:solidFill>
                  <a:srgbClr val="1F3D22"/>
                </a:solidFill>
                <a:latin typeface="Helvetica "/>
                <a:ea typeface="Cambria" pitchFamily="34" charset="-122"/>
                <a:cs typeface="Cambria" pitchFamily="34" charset="-120"/>
              </a:rPr>
              <a:t>Audit Triggers</a:t>
            </a:r>
            <a:endParaRPr lang="en-US" sz="1500" dirty="0">
              <a:latin typeface="Helvetica "/>
            </a:endParaRPr>
          </a:p>
        </p:txBody>
      </p:sp>
      <p:sp>
        <p:nvSpPr>
          <p:cNvPr id="14" name="Text 10"/>
          <p:cNvSpPr/>
          <p:nvPr/>
        </p:nvSpPr>
        <p:spPr>
          <a:xfrm>
            <a:off x="868680" y="3950208"/>
            <a:ext cx="5120640" cy="1234440"/>
          </a:xfrm>
          <a:prstGeom prst="rect">
            <a:avLst/>
          </a:prstGeom>
          <a:noFill/>
          <a:ln/>
        </p:spPr>
        <p:txBody>
          <a:bodyPr wrap="square" rtlCol="0" anchor="ctr"/>
          <a:lstStyle/>
          <a:p>
            <a:pPr marL="0" indent="0">
              <a:lnSpc>
                <a:spcPts val="1800"/>
              </a:lnSpc>
              <a:buNone/>
            </a:pPr>
            <a:r>
              <a:rPr lang="en-US" sz="1300" dirty="0">
                <a:solidFill>
                  <a:srgbClr val="2A2A26"/>
                </a:solidFill>
                <a:latin typeface="Helvetica "/>
                <a:ea typeface="Calibri" pitchFamily="34" charset="-122"/>
                <a:cs typeface="Calibri" pitchFamily="34" charset="-120"/>
              </a:rPr>
              <a:t>trg_audit_sale and trg_audit_payment log every INSERT / UPDATE / DELETE to AUDIT_LOG with old and new values, timestamp, and username — a tamper-evident history of every transaction.</a:t>
            </a:r>
            <a:endParaRPr lang="en-US" sz="1300" dirty="0">
              <a:latin typeface="Helvetica "/>
            </a:endParaRPr>
          </a:p>
        </p:txBody>
      </p:sp>
      <p:sp>
        <p:nvSpPr>
          <p:cNvPr id="15" name="Shape 11"/>
          <p:cNvSpPr/>
          <p:nvPr/>
        </p:nvSpPr>
        <p:spPr>
          <a:xfrm>
            <a:off x="6537960" y="1280160"/>
            <a:ext cx="5120640" cy="5029200"/>
          </a:xfrm>
          <a:prstGeom prst="roundRect">
            <a:avLst>
              <a:gd name="adj" fmla="val 2182"/>
            </a:avLst>
          </a:prstGeom>
          <a:solidFill>
            <a:srgbClr val="1F3D22"/>
          </a:solidFill>
          <a:ln/>
        </p:spPr>
      </p:sp>
      <p:sp>
        <p:nvSpPr>
          <p:cNvPr id="16" name="Text 12"/>
          <p:cNvSpPr/>
          <p:nvPr/>
        </p:nvSpPr>
        <p:spPr>
          <a:xfrm>
            <a:off x="6858000" y="1508760"/>
            <a:ext cx="4389120" cy="411480"/>
          </a:xfrm>
          <a:prstGeom prst="rect">
            <a:avLst/>
          </a:prstGeom>
          <a:noFill/>
          <a:ln/>
        </p:spPr>
        <p:txBody>
          <a:bodyPr wrap="square" rtlCol="0" anchor="ctr"/>
          <a:lstStyle/>
          <a:p>
            <a:pPr marL="0" indent="0">
              <a:buNone/>
            </a:pPr>
            <a:r>
              <a:rPr lang="en-US" sz="1700" b="1" dirty="0">
                <a:solidFill>
                  <a:srgbClr val="FFFFFF"/>
                </a:solidFill>
                <a:latin typeface="Helvetica "/>
                <a:ea typeface="Cambria" pitchFamily="34" charset="-122"/>
                <a:cs typeface="Cambria" pitchFamily="34" charset="-120"/>
              </a:rPr>
              <a:t>Role-Based Security</a:t>
            </a:r>
            <a:endParaRPr lang="en-US" sz="1700" dirty="0">
              <a:latin typeface="Helvetica "/>
            </a:endParaRPr>
          </a:p>
        </p:txBody>
      </p:sp>
      <p:sp>
        <p:nvSpPr>
          <p:cNvPr id="17" name="Text 13"/>
          <p:cNvSpPr/>
          <p:nvPr/>
        </p:nvSpPr>
        <p:spPr>
          <a:xfrm>
            <a:off x="6858000" y="2148840"/>
            <a:ext cx="4297680" cy="320040"/>
          </a:xfrm>
          <a:prstGeom prst="rect">
            <a:avLst/>
          </a:prstGeom>
          <a:noFill/>
          <a:ln/>
        </p:spPr>
        <p:txBody>
          <a:bodyPr wrap="square" rtlCol="0" anchor="ctr"/>
          <a:lstStyle/>
          <a:p>
            <a:pPr marL="0" indent="0">
              <a:buNone/>
            </a:pPr>
            <a:r>
              <a:rPr lang="en-US" sz="1350" b="1" dirty="0">
                <a:solidFill>
                  <a:srgbClr val="D9A441"/>
                </a:solidFill>
                <a:latin typeface="Helvetica "/>
                <a:ea typeface="Courier New" pitchFamily="34" charset="-122"/>
                <a:cs typeface="Courier New" pitchFamily="34" charset="-120"/>
              </a:rPr>
              <a:t>role_clerk</a:t>
            </a:r>
            <a:endParaRPr lang="en-US" sz="1350" dirty="0">
              <a:latin typeface="Helvetica "/>
            </a:endParaRPr>
          </a:p>
        </p:txBody>
      </p:sp>
      <p:sp>
        <p:nvSpPr>
          <p:cNvPr id="18" name="Text 14"/>
          <p:cNvSpPr/>
          <p:nvPr/>
        </p:nvSpPr>
        <p:spPr>
          <a:xfrm>
            <a:off x="6858000" y="2468880"/>
            <a:ext cx="4297680" cy="457200"/>
          </a:xfrm>
          <a:prstGeom prst="rect">
            <a:avLst/>
          </a:prstGeom>
          <a:noFill/>
          <a:ln/>
        </p:spPr>
        <p:txBody>
          <a:bodyPr wrap="square" rtlCol="0" anchor="ctr"/>
          <a:lstStyle/>
          <a:p>
            <a:pPr marL="0" indent="0">
              <a:lnSpc>
                <a:spcPts val="1600"/>
              </a:lnSpc>
              <a:buNone/>
            </a:pPr>
            <a:r>
              <a:rPr lang="en-US" sz="1250" dirty="0">
                <a:solidFill>
                  <a:srgbClr val="C9D9B8"/>
                </a:solidFill>
                <a:latin typeface="Helvetica "/>
                <a:ea typeface="Calibri" pitchFamily="34" charset="-122"/>
                <a:cs typeface="Calibri" pitchFamily="34" charset="-120"/>
              </a:rPr>
              <a:t>Insert/update on operational tables; no DELETE on sales</a:t>
            </a:r>
            <a:endParaRPr lang="en-US" sz="1250" dirty="0">
              <a:latin typeface="Helvetica "/>
            </a:endParaRPr>
          </a:p>
        </p:txBody>
      </p:sp>
      <p:sp>
        <p:nvSpPr>
          <p:cNvPr id="19" name="Text 15"/>
          <p:cNvSpPr/>
          <p:nvPr/>
        </p:nvSpPr>
        <p:spPr>
          <a:xfrm>
            <a:off x="6858000" y="3108960"/>
            <a:ext cx="4297680" cy="320040"/>
          </a:xfrm>
          <a:prstGeom prst="rect">
            <a:avLst/>
          </a:prstGeom>
          <a:noFill/>
          <a:ln/>
        </p:spPr>
        <p:txBody>
          <a:bodyPr wrap="square" rtlCol="0" anchor="ctr"/>
          <a:lstStyle/>
          <a:p>
            <a:pPr marL="0" indent="0">
              <a:buNone/>
            </a:pPr>
            <a:r>
              <a:rPr lang="en-US" sz="1350" b="1" dirty="0">
                <a:solidFill>
                  <a:srgbClr val="D9A441"/>
                </a:solidFill>
                <a:latin typeface="Helvetica "/>
                <a:ea typeface="Courier New" pitchFamily="34" charset="-122"/>
                <a:cs typeface="Courier New" pitchFamily="34" charset="-120"/>
              </a:rPr>
              <a:t>role_buyer_viewer</a:t>
            </a:r>
            <a:endParaRPr lang="en-US" sz="1350" dirty="0">
              <a:latin typeface="Helvetica "/>
            </a:endParaRPr>
          </a:p>
        </p:txBody>
      </p:sp>
      <p:sp>
        <p:nvSpPr>
          <p:cNvPr id="20" name="Text 16"/>
          <p:cNvSpPr/>
          <p:nvPr/>
        </p:nvSpPr>
        <p:spPr>
          <a:xfrm>
            <a:off x="6858000" y="3429000"/>
            <a:ext cx="4297680" cy="457200"/>
          </a:xfrm>
          <a:prstGeom prst="rect">
            <a:avLst/>
          </a:prstGeom>
          <a:noFill/>
          <a:ln/>
        </p:spPr>
        <p:txBody>
          <a:bodyPr wrap="square" rtlCol="0" anchor="ctr"/>
          <a:lstStyle/>
          <a:p>
            <a:pPr marL="0" indent="0">
              <a:lnSpc>
                <a:spcPts val="1600"/>
              </a:lnSpc>
              <a:buNone/>
            </a:pPr>
            <a:r>
              <a:rPr lang="en-US" sz="1250" dirty="0">
                <a:solidFill>
                  <a:srgbClr val="C9D9B8"/>
                </a:solidFill>
                <a:latin typeface="Helvetica "/>
                <a:ea typeface="Calibri" pitchFamily="34" charset="-122"/>
                <a:cs typeface="Calibri" pitchFamily="34" charset="-120"/>
              </a:rPr>
              <a:t>Read-only access to crops, harvests, and sales</a:t>
            </a:r>
            <a:endParaRPr lang="en-US" sz="1250" dirty="0">
              <a:latin typeface="Helvetica "/>
            </a:endParaRPr>
          </a:p>
        </p:txBody>
      </p:sp>
      <p:sp>
        <p:nvSpPr>
          <p:cNvPr id="21" name="Text 17"/>
          <p:cNvSpPr/>
          <p:nvPr/>
        </p:nvSpPr>
        <p:spPr>
          <a:xfrm>
            <a:off x="6858000" y="4069080"/>
            <a:ext cx="4297680" cy="320040"/>
          </a:xfrm>
          <a:prstGeom prst="rect">
            <a:avLst/>
          </a:prstGeom>
          <a:noFill/>
          <a:ln/>
        </p:spPr>
        <p:txBody>
          <a:bodyPr wrap="square" rtlCol="0" anchor="ctr"/>
          <a:lstStyle/>
          <a:p>
            <a:pPr marL="0" indent="0">
              <a:buNone/>
            </a:pPr>
            <a:r>
              <a:rPr lang="en-US" sz="1350" b="1" dirty="0">
                <a:solidFill>
                  <a:srgbClr val="D9A441"/>
                </a:solidFill>
                <a:latin typeface="Helvetica "/>
                <a:ea typeface="Courier New" pitchFamily="34" charset="-122"/>
                <a:cs typeface="Courier New" pitchFamily="34" charset="-120"/>
              </a:rPr>
              <a:t>role_admin</a:t>
            </a:r>
            <a:endParaRPr lang="en-US" sz="1350" dirty="0">
              <a:latin typeface="Helvetica "/>
            </a:endParaRPr>
          </a:p>
        </p:txBody>
      </p:sp>
      <p:sp>
        <p:nvSpPr>
          <p:cNvPr id="22" name="Text 18"/>
          <p:cNvSpPr/>
          <p:nvPr/>
        </p:nvSpPr>
        <p:spPr>
          <a:xfrm>
            <a:off x="6858000" y="4389120"/>
            <a:ext cx="4297680" cy="457200"/>
          </a:xfrm>
          <a:prstGeom prst="rect">
            <a:avLst/>
          </a:prstGeom>
          <a:noFill/>
          <a:ln/>
        </p:spPr>
        <p:txBody>
          <a:bodyPr wrap="square" rtlCol="0" anchor="ctr"/>
          <a:lstStyle/>
          <a:p>
            <a:pPr marL="0" indent="0">
              <a:lnSpc>
                <a:spcPts val="1600"/>
              </a:lnSpc>
              <a:buNone/>
            </a:pPr>
            <a:r>
              <a:rPr lang="en-US" sz="1250" dirty="0">
                <a:solidFill>
                  <a:srgbClr val="C9D9B8"/>
                </a:solidFill>
                <a:latin typeface="Helvetica "/>
                <a:ea typeface="Calibri" pitchFamily="34" charset="-122"/>
                <a:cs typeface="Calibri" pitchFamily="34" charset="-120"/>
              </a:rPr>
              <a:t>Full CRUD except audit_log, which stays read-only</a:t>
            </a:r>
            <a:endParaRPr lang="en-US" sz="1250" dirty="0">
              <a:latin typeface="Helvetica "/>
            </a:endParaRPr>
          </a:p>
        </p:txBody>
      </p:sp>
      <p:sp>
        <p:nvSpPr>
          <p:cNvPr id="23" name="Text 19"/>
          <p:cNvSpPr/>
          <p:nvPr/>
        </p:nvSpPr>
        <p:spPr>
          <a:xfrm>
            <a:off x="640080" y="6510528"/>
            <a:ext cx="10972800" cy="274320"/>
          </a:xfrm>
          <a:prstGeom prst="rect">
            <a:avLst/>
          </a:prstGeom>
          <a:noFill/>
          <a:ln/>
        </p:spPr>
        <p:txBody>
          <a:bodyPr wrap="square" rtlCol="0" anchor="ctr"/>
          <a:lstStyle/>
          <a:p>
            <a:pPr marL="0" indent="0">
              <a:buNone/>
            </a:pPr>
            <a:r>
              <a:rPr lang="en-US" sz="950" dirty="0">
                <a:solidFill>
                  <a:srgbClr val="6B6B63"/>
                </a:solidFill>
                <a:latin typeface="Calibri" pitchFamily="34" charset="0"/>
                <a:ea typeface="Calibri" pitchFamily="34" charset="-122"/>
                <a:cs typeface="Calibri" pitchFamily="34" charset="-120"/>
              </a:rPr>
              <a:t>Farmer Produce &amp; Market Supply Chain Management System   |   7 / 10</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F3D22"/>
          </a:solidFill>
          <a:ln/>
        </p:spPr>
      </p:sp>
      <p:sp>
        <p:nvSpPr>
          <p:cNvPr id="3" name="Text 1"/>
          <p:cNvSpPr/>
          <p:nvPr/>
        </p:nvSpPr>
        <p:spPr>
          <a:xfrm>
            <a:off x="640080" y="128016"/>
            <a:ext cx="7315200" cy="274320"/>
          </a:xfrm>
          <a:prstGeom prst="rect">
            <a:avLst/>
          </a:prstGeom>
          <a:noFill/>
          <a:ln/>
        </p:spPr>
        <p:txBody>
          <a:bodyPr wrap="square" rtlCol="0" anchor="ctr"/>
          <a:lstStyle/>
          <a:p>
            <a:pPr marL="0" indent="0">
              <a:buNone/>
            </a:pPr>
            <a:r>
              <a:rPr lang="en-US" sz="1100" b="1" kern="0" spc="150" dirty="0">
                <a:solidFill>
                  <a:srgbClr val="D9A441"/>
                </a:solidFill>
                <a:latin typeface="Calibri" pitchFamily="34" charset="0"/>
                <a:ea typeface="Calibri" pitchFamily="34" charset="-122"/>
                <a:cs typeface="Calibri" pitchFamily="34" charset="-120"/>
              </a:rPr>
              <a:t>07 · ORACLE APEX APPLICATION</a:t>
            </a:r>
            <a:endParaRPr lang="en-US" sz="1100" dirty="0"/>
          </a:p>
        </p:txBody>
      </p:sp>
      <p:sp>
        <p:nvSpPr>
          <p:cNvPr id="4" name="Text 2"/>
          <p:cNvSpPr/>
          <p:nvPr/>
        </p:nvSpPr>
        <p:spPr>
          <a:xfrm>
            <a:off x="640080" y="365760"/>
            <a:ext cx="9601200" cy="54864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Results</a:t>
            </a:r>
            <a:endParaRPr lang="en-US" sz="2400" dirty="0"/>
          </a:p>
        </p:txBody>
      </p:sp>
      <p:sp>
        <p:nvSpPr>
          <p:cNvPr id="5" name="Text 3"/>
          <p:cNvSpPr/>
          <p:nvPr/>
        </p:nvSpPr>
        <p:spPr>
          <a:xfrm>
            <a:off x="10698480" y="320040"/>
            <a:ext cx="1188720" cy="320040"/>
          </a:xfrm>
          <a:prstGeom prst="rect">
            <a:avLst/>
          </a:prstGeom>
          <a:noFill/>
          <a:ln/>
        </p:spPr>
        <p:txBody>
          <a:bodyPr wrap="square" rtlCol="0" anchor="ctr"/>
          <a:lstStyle/>
          <a:p>
            <a:pPr marL="0" indent="0" algn="r">
              <a:buNone/>
            </a:pPr>
            <a:r>
              <a:rPr lang="en-US" sz="1050" dirty="0">
                <a:solidFill>
                  <a:srgbClr val="9FB48A"/>
                </a:solidFill>
                <a:latin typeface="Calibri" pitchFamily="34" charset="0"/>
                <a:ea typeface="Calibri" pitchFamily="34" charset="-122"/>
                <a:cs typeface="Calibri" pitchFamily="34" charset="-120"/>
              </a:rPr>
              <a:t>DPR400210</a:t>
            </a:r>
            <a:endParaRPr lang="en-US" sz="1050" dirty="0"/>
          </a:p>
        </p:txBody>
      </p:sp>
      <p:sp>
        <p:nvSpPr>
          <p:cNvPr id="6" name="Shape 4"/>
          <p:cNvSpPr/>
          <p:nvPr/>
        </p:nvSpPr>
        <p:spPr>
          <a:xfrm>
            <a:off x="640080" y="1463040"/>
            <a:ext cx="2606040" cy="4206240"/>
          </a:xfrm>
          <a:prstGeom prst="roundRect">
            <a:avLst>
              <a:gd name="adj" fmla="val 4211"/>
            </a:avLst>
          </a:prstGeom>
          <a:solidFill>
            <a:srgbClr val="1F3D22"/>
          </a:solidFill>
          <a:ln/>
        </p:spPr>
      </p:sp>
      <p:sp>
        <p:nvSpPr>
          <p:cNvPr id="7" name="Shape 5"/>
          <p:cNvSpPr/>
          <p:nvPr/>
        </p:nvSpPr>
        <p:spPr>
          <a:xfrm>
            <a:off x="1623060" y="1828800"/>
            <a:ext cx="640080" cy="640080"/>
          </a:xfrm>
          <a:prstGeom prst="ellipse">
            <a:avLst/>
          </a:prstGeom>
          <a:solidFill>
            <a:srgbClr val="6E9B4E"/>
          </a:solidFill>
          <a:ln/>
        </p:spPr>
      </p:sp>
      <p:pic>
        <p:nvPicPr>
          <p:cNvPr id="8" name="Image 0" descr="/home/claude/farmdb/icon_users.png"/>
          <p:cNvPicPr>
            <a:picLocks noChangeAspect="1"/>
          </p:cNvPicPr>
          <p:nvPr/>
        </p:nvPicPr>
        <p:blipFill>
          <a:blip r:embed="rId3"/>
          <a:stretch>
            <a:fillRect/>
          </a:stretch>
        </p:blipFill>
        <p:spPr>
          <a:xfrm>
            <a:off x="1769364" y="1975104"/>
            <a:ext cx="347472" cy="347472"/>
          </a:xfrm>
          <a:prstGeom prst="rect">
            <a:avLst/>
          </a:prstGeom>
        </p:spPr>
      </p:pic>
      <p:sp>
        <p:nvSpPr>
          <p:cNvPr id="9" name="Text 6"/>
          <p:cNvSpPr/>
          <p:nvPr/>
        </p:nvSpPr>
        <p:spPr>
          <a:xfrm>
            <a:off x="777240" y="2697480"/>
            <a:ext cx="2331720" cy="640080"/>
          </a:xfrm>
          <a:prstGeom prst="rect">
            <a:avLst/>
          </a:prstGeom>
          <a:noFill/>
          <a:ln/>
        </p:spPr>
        <p:txBody>
          <a:bodyPr wrap="square" rtlCol="0" anchor="ctr"/>
          <a:lstStyle/>
          <a:p>
            <a:pPr marL="0" indent="0" algn="ctr">
              <a:lnSpc>
                <a:spcPts val="1800"/>
              </a:lnSpc>
              <a:buNone/>
            </a:pPr>
            <a:r>
              <a:rPr lang="en-US" sz="1550" b="1" dirty="0">
                <a:solidFill>
                  <a:srgbClr val="FFFFFF"/>
                </a:solidFill>
                <a:latin typeface="Helvetica "/>
                <a:ea typeface="Cambria" pitchFamily="34" charset="-122"/>
                <a:cs typeface="Cambria" pitchFamily="34" charset="-120"/>
              </a:rPr>
              <a:t>Farmers &amp; Farms</a:t>
            </a:r>
            <a:endParaRPr lang="en-US" sz="1550" dirty="0">
              <a:latin typeface="Helvetica "/>
            </a:endParaRPr>
          </a:p>
        </p:txBody>
      </p:sp>
      <p:sp>
        <p:nvSpPr>
          <p:cNvPr id="10" name="Text 7"/>
          <p:cNvSpPr/>
          <p:nvPr/>
        </p:nvSpPr>
        <p:spPr>
          <a:xfrm>
            <a:off x="822960" y="3429000"/>
            <a:ext cx="2240280" cy="914400"/>
          </a:xfrm>
          <a:prstGeom prst="rect">
            <a:avLst/>
          </a:prstGeom>
          <a:noFill/>
          <a:ln/>
        </p:spPr>
        <p:txBody>
          <a:bodyPr wrap="square" rtlCol="0" anchor="ctr"/>
          <a:lstStyle/>
          <a:p>
            <a:pPr marL="0" indent="0" algn="ctr">
              <a:lnSpc>
                <a:spcPts val="1600"/>
              </a:lnSpc>
              <a:buNone/>
            </a:pPr>
            <a:r>
              <a:rPr lang="en-US" sz="1200" dirty="0">
                <a:solidFill>
                  <a:srgbClr val="C9D9B8"/>
                </a:solidFill>
                <a:latin typeface="Helvetica "/>
                <a:ea typeface="Calibri" pitchFamily="34" charset="-122"/>
                <a:cs typeface="Calibri" pitchFamily="34" charset="-120"/>
              </a:rPr>
              <a:t>Interactive Grid CRUD</a:t>
            </a:r>
            <a:endParaRPr lang="en-US" sz="1200" dirty="0">
              <a:latin typeface="Helvetica "/>
            </a:endParaRPr>
          </a:p>
        </p:txBody>
      </p:sp>
      <p:sp>
        <p:nvSpPr>
          <p:cNvPr id="11" name="Shape 8"/>
          <p:cNvSpPr/>
          <p:nvPr/>
        </p:nvSpPr>
        <p:spPr>
          <a:xfrm>
            <a:off x="3474720" y="1463040"/>
            <a:ext cx="2606040" cy="4206240"/>
          </a:xfrm>
          <a:prstGeom prst="roundRect">
            <a:avLst>
              <a:gd name="adj" fmla="val 4211"/>
            </a:avLst>
          </a:prstGeom>
          <a:solidFill>
            <a:srgbClr val="F3F6EE"/>
          </a:solidFill>
          <a:ln/>
        </p:spPr>
      </p:sp>
      <p:sp>
        <p:nvSpPr>
          <p:cNvPr id="12" name="Shape 9"/>
          <p:cNvSpPr/>
          <p:nvPr/>
        </p:nvSpPr>
        <p:spPr>
          <a:xfrm>
            <a:off x="4457700" y="1828800"/>
            <a:ext cx="640080" cy="640080"/>
          </a:xfrm>
          <a:prstGeom prst="ellipse">
            <a:avLst/>
          </a:prstGeom>
          <a:solidFill>
            <a:srgbClr val="1F3D22"/>
          </a:solidFill>
          <a:ln/>
        </p:spPr>
      </p:sp>
      <p:pic>
        <p:nvPicPr>
          <p:cNvPr id="13" name="Image 1" descr="/home/claude/farmdb/icon_wheat.png"/>
          <p:cNvPicPr>
            <a:picLocks noChangeAspect="1"/>
          </p:cNvPicPr>
          <p:nvPr/>
        </p:nvPicPr>
        <p:blipFill>
          <a:blip r:embed="rId4"/>
          <a:stretch>
            <a:fillRect/>
          </a:stretch>
        </p:blipFill>
        <p:spPr>
          <a:xfrm>
            <a:off x="4604004" y="1975104"/>
            <a:ext cx="347472" cy="347472"/>
          </a:xfrm>
          <a:prstGeom prst="rect">
            <a:avLst/>
          </a:prstGeom>
        </p:spPr>
      </p:pic>
      <p:sp>
        <p:nvSpPr>
          <p:cNvPr id="14" name="Text 10"/>
          <p:cNvSpPr/>
          <p:nvPr/>
        </p:nvSpPr>
        <p:spPr>
          <a:xfrm>
            <a:off x="3611880" y="2697480"/>
            <a:ext cx="2331720" cy="640080"/>
          </a:xfrm>
          <a:prstGeom prst="rect">
            <a:avLst/>
          </a:prstGeom>
          <a:noFill/>
          <a:ln/>
        </p:spPr>
        <p:txBody>
          <a:bodyPr wrap="square" rtlCol="0" anchor="ctr"/>
          <a:lstStyle/>
          <a:p>
            <a:pPr marL="0" indent="0" algn="ctr">
              <a:lnSpc>
                <a:spcPts val="1800"/>
              </a:lnSpc>
              <a:buNone/>
            </a:pPr>
            <a:r>
              <a:rPr lang="en-US" sz="1550" b="1" dirty="0">
                <a:solidFill>
                  <a:srgbClr val="1F3D22"/>
                </a:solidFill>
                <a:latin typeface="Helvetica "/>
                <a:ea typeface="Cambria" pitchFamily="34" charset="-122"/>
                <a:cs typeface="Cambria" pitchFamily="34" charset="-120"/>
              </a:rPr>
              <a:t>Harvest Logging</a:t>
            </a:r>
            <a:endParaRPr lang="en-US" sz="1550" dirty="0">
              <a:latin typeface="Helvetica "/>
            </a:endParaRPr>
          </a:p>
        </p:txBody>
      </p:sp>
      <p:sp>
        <p:nvSpPr>
          <p:cNvPr id="15" name="Text 11"/>
          <p:cNvSpPr/>
          <p:nvPr/>
        </p:nvSpPr>
        <p:spPr>
          <a:xfrm>
            <a:off x="3657600" y="3429000"/>
            <a:ext cx="2240280" cy="914400"/>
          </a:xfrm>
          <a:prstGeom prst="rect">
            <a:avLst/>
          </a:prstGeom>
          <a:noFill/>
          <a:ln/>
        </p:spPr>
        <p:txBody>
          <a:bodyPr wrap="square" rtlCol="0" anchor="ctr"/>
          <a:lstStyle/>
          <a:p>
            <a:pPr marL="0" indent="0" algn="ctr">
              <a:lnSpc>
                <a:spcPts val="1600"/>
              </a:lnSpc>
              <a:buNone/>
            </a:pPr>
            <a:r>
              <a:rPr lang="en-US" sz="1200" dirty="0">
                <a:solidFill>
                  <a:srgbClr val="6B6B63"/>
                </a:solidFill>
                <a:latin typeface="Helvetica "/>
                <a:ea typeface="Calibri" pitchFamily="34" charset="-122"/>
                <a:cs typeface="Calibri" pitchFamily="34" charset="-120"/>
              </a:rPr>
              <a:t>Form calling farm_pkg</a:t>
            </a:r>
            <a:endParaRPr lang="en-US" sz="1200" dirty="0">
              <a:latin typeface="Helvetica "/>
            </a:endParaRPr>
          </a:p>
        </p:txBody>
      </p:sp>
      <p:sp>
        <p:nvSpPr>
          <p:cNvPr id="16" name="Shape 12"/>
          <p:cNvSpPr/>
          <p:nvPr/>
        </p:nvSpPr>
        <p:spPr>
          <a:xfrm>
            <a:off x="6309360" y="1463040"/>
            <a:ext cx="2606040" cy="4206240"/>
          </a:xfrm>
          <a:prstGeom prst="roundRect">
            <a:avLst>
              <a:gd name="adj" fmla="val 4211"/>
            </a:avLst>
          </a:prstGeom>
          <a:solidFill>
            <a:srgbClr val="1F3D22"/>
          </a:solidFill>
          <a:ln/>
        </p:spPr>
      </p:sp>
      <p:sp>
        <p:nvSpPr>
          <p:cNvPr id="17" name="Shape 13"/>
          <p:cNvSpPr/>
          <p:nvPr/>
        </p:nvSpPr>
        <p:spPr>
          <a:xfrm>
            <a:off x="7292340" y="1828800"/>
            <a:ext cx="640080" cy="640080"/>
          </a:xfrm>
          <a:prstGeom prst="ellipse">
            <a:avLst/>
          </a:prstGeom>
          <a:solidFill>
            <a:srgbClr val="6E9B4E"/>
          </a:solidFill>
          <a:ln/>
        </p:spPr>
      </p:sp>
      <p:pic>
        <p:nvPicPr>
          <p:cNvPr id="18" name="Image 2" descr="/home/claude/farmdb/icon_dollar.png"/>
          <p:cNvPicPr>
            <a:picLocks noChangeAspect="1"/>
          </p:cNvPicPr>
          <p:nvPr/>
        </p:nvPicPr>
        <p:blipFill>
          <a:blip r:embed="rId5"/>
          <a:stretch>
            <a:fillRect/>
          </a:stretch>
        </p:blipFill>
        <p:spPr>
          <a:xfrm>
            <a:off x="7438644" y="1975104"/>
            <a:ext cx="347472" cy="347472"/>
          </a:xfrm>
          <a:prstGeom prst="rect">
            <a:avLst/>
          </a:prstGeom>
        </p:spPr>
      </p:pic>
      <p:sp>
        <p:nvSpPr>
          <p:cNvPr id="19" name="Text 14"/>
          <p:cNvSpPr/>
          <p:nvPr/>
        </p:nvSpPr>
        <p:spPr>
          <a:xfrm>
            <a:off x="6446520" y="2697480"/>
            <a:ext cx="2331720" cy="640080"/>
          </a:xfrm>
          <a:prstGeom prst="rect">
            <a:avLst/>
          </a:prstGeom>
          <a:noFill/>
          <a:ln/>
        </p:spPr>
        <p:txBody>
          <a:bodyPr wrap="square" rtlCol="0" anchor="ctr"/>
          <a:lstStyle/>
          <a:p>
            <a:pPr marL="0" indent="0" algn="ctr">
              <a:lnSpc>
                <a:spcPts val="1800"/>
              </a:lnSpc>
              <a:buNone/>
            </a:pPr>
            <a:r>
              <a:rPr lang="en-US" sz="1550" b="1" dirty="0">
                <a:solidFill>
                  <a:srgbClr val="FFFFFF"/>
                </a:solidFill>
                <a:latin typeface="Helvetica "/>
                <a:ea typeface="Cambria" pitchFamily="34" charset="-122"/>
                <a:cs typeface="Cambria" pitchFamily="34" charset="-120"/>
              </a:rPr>
              <a:t>Sales &amp; Payments</a:t>
            </a:r>
            <a:endParaRPr lang="en-US" sz="1550" dirty="0">
              <a:latin typeface="Helvetica "/>
            </a:endParaRPr>
          </a:p>
        </p:txBody>
      </p:sp>
      <p:sp>
        <p:nvSpPr>
          <p:cNvPr id="20" name="Text 15"/>
          <p:cNvSpPr/>
          <p:nvPr/>
        </p:nvSpPr>
        <p:spPr>
          <a:xfrm>
            <a:off x="6492240" y="3429000"/>
            <a:ext cx="2240280" cy="914400"/>
          </a:xfrm>
          <a:prstGeom prst="rect">
            <a:avLst/>
          </a:prstGeom>
          <a:noFill/>
          <a:ln/>
        </p:spPr>
        <p:txBody>
          <a:bodyPr wrap="square" rtlCol="0" anchor="ctr"/>
          <a:lstStyle/>
          <a:p>
            <a:pPr marL="0" indent="0" algn="ctr">
              <a:lnSpc>
                <a:spcPts val="1600"/>
              </a:lnSpc>
              <a:buNone/>
            </a:pPr>
            <a:r>
              <a:rPr lang="en-US" sz="1200" dirty="0">
                <a:solidFill>
                  <a:srgbClr val="C9D9B8"/>
                </a:solidFill>
                <a:latin typeface="Helvetica "/>
                <a:ea typeface="Calibri" pitchFamily="34" charset="-122"/>
                <a:cs typeface="Calibri" pitchFamily="34" charset="-120"/>
              </a:rPr>
              <a:t>Validated against triggers</a:t>
            </a:r>
            <a:endParaRPr lang="en-US" sz="1200" dirty="0">
              <a:latin typeface="Helvetica "/>
            </a:endParaRPr>
          </a:p>
        </p:txBody>
      </p:sp>
      <p:sp>
        <p:nvSpPr>
          <p:cNvPr id="21" name="Shape 16"/>
          <p:cNvSpPr/>
          <p:nvPr/>
        </p:nvSpPr>
        <p:spPr>
          <a:xfrm>
            <a:off x="9144000" y="1463040"/>
            <a:ext cx="2606040" cy="4206240"/>
          </a:xfrm>
          <a:prstGeom prst="roundRect">
            <a:avLst>
              <a:gd name="adj" fmla="val 4211"/>
            </a:avLst>
          </a:prstGeom>
          <a:solidFill>
            <a:srgbClr val="F3F6EE"/>
          </a:solidFill>
          <a:ln/>
        </p:spPr>
      </p:sp>
      <p:sp>
        <p:nvSpPr>
          <p:cNvPr id="22" name="Shape 17"/>
          <p:cNvSpPr/>
          <p:nvPr/>
        </p:nvSpPr>
        <p:spPr>
          <a:xfrm>
            <a:off x="10126980" y="1828800"/>
            <a:ext cx="640080" cy="640080"/>
          </a:xfrm>
          <a:prstGeom prst="ellipse">
            <a:avLst/>
          </a:prstGeom>
          <a:solidFill>
            <a:srgbClr val="1F3D22"/>
          </a:solidFill>
          <a:ln/>
        </p:spPr>
      </p:sp>
      <p:pic>
        <p:nvPicPr>
          <p:cNvPr id="23" name="Image 3" descr="/home/claude/farmdb/icon_trend.png"/>
          <p:cNvPicPr>
            <a:picLocks noChangeAspect="1"/>
          </p:cNvPicPr>
          <p:nvPr/>
        </p:nvPicPr>
        <p:blipFill>
          <a:blip r:embed="rId6"/>
          <a:stretch>
            <a:fillRect/>
          </a:stretch>
        </p:blipFill>
        <p:spPr>
          <a:xfrm>
            <a:off x="10273284" y="1975104"/>
            <a:ext cx="347472" cy="347472"/>
          </a:xfrm>
          <a:prstGeom prst="rect">
            <a:avLst/>
          </a:prstGeom>
        </p:spPr>
      </p:pic>
      <p:sp>
        <p:nvSpPr>
          <p:cNvPr id="24" name="Text 18"/>
          <p:cNvSpPr/>
          <p:nvPr/>
        </p:nvSpPr>
        <p:spPr>
          <a:xfrm>
            <a:off x="9281160" y="2697480"/>
            <a:ext cx="2331720" cy="640080"/>
          </a:xfrm>
          <a:prstGeom prst="rect">
            <a:avLst/>
          </a:prstGeom>
          <a:noFill/>
          <a:ln/>
        </p:spPr>
        <p:txBody>
          <a:bodyPr wrap="square" rtlCol="0" anchor="ctr"/>
          <a:lstStyle/>
          <a:p>
            <a:pPr marL="0" indent="0" algn="ctr">
              <a:lnSpc>
                <a:spcPts val="1800"/>
              </a:lnSpc>
              <a:buNone/>
            </a:pPr>
            <a:r>
              <a:rPr lang="en-US" sz="1550" b="1" dirty="0">
                <a:solidFill>
                  <a:srgbClr val="1F3D22"/>
                </a:solidFill>
                <a:latin typeface="Helvetica "/>
                <a:ea typeface="Cambria" pitchFamily="34" charset="-122"/>
                <a:cs typeface="Cambria" pitchFamily="34" charset="-120"/>
              </a:rPr>
              <a:t>Admin Dashboard</a:t>
            </a:r>
            <a:endParaRPr lang="en-US" sz="1550" dirty="0">
              <a:latin typeface="Helvetica "/>
            </a:endParaRPr>
          </a:p>
        </p:txBody>
      </p:sp>
      <p:sp>
        <p:nvSpPr>
          <p:cNvPr id="25" name="Text 19"/>
          <p:cNvSpPr/>
          <p:nvPr/>
        </p:nvSpPr>
        <p:spPr>
          <a:xfrm>
            <a:off x="9326880" y="3429000"/>
            <a:ext cx="2240280" cy="914400"/>
          </a:xfrm>
          <a:prstGeom prst="rect">
            <a:avLst/>
          </a:prstGeom>
          <a:noFill/>
          <a:ln/>
        </p:spPr>
        <p:txBody>
          <a:bodyPr wrap="square" rtlCol="0" anchor="ctr"/>
          <a:lstStyle/>
          <a:p>
            <a:pPr marL="0" indent="0" algn="ctr">
              <a:lnSpc>
                <a:spcPts val="1600"/>
              </a:lnSpc>
              <a:buNone/>
            </a:pPr>
            <a:r>
              <a:rPr lang="en-US" sz="1200" dirty="0">
                <a:solidFill>
                  <a:srgbClr val="6B6B63"/>
                </a:solidFill>
                <a:latin typeface="Helvetica "/>
                <a:ea typeface="Calibri" pitchFamily="34" charset="-122"/>
                <a:cs typeface="Calibri" pitchFamily="34" charset="-120"/>
              </a:rPr>
              <a:t>Charts + audit log, role-gated</a:t>
            </a:r>
            <a:endParaRPr lang="en-US" sz="1200" dirty="0">
              <a:latin typeface="Helvetica "/>
            </a:endParaRPr>
          </a:p>
        </p:txBody>
      </p:sp>
      <p:sp>
        <p:nvSpPr>
          <p:cNvPr id="26" name="Text 20"/>
          <p:cNvSpPr/>
          <p:nvPr/>
        </p:nvSpPr>
        <p:spPr>
          <a:xfrm>
            <a:off x="640080" y="5852160"/>
            <a:ext cx="10789920" cy="365760"/>
          </a:xfrm>
          <a:prstGeom prst="rect">
            <a:avLst/>
          </a:prstGeom>
          <a:noFill/>
          <a:ln/>
        </p:spPr>
        <p:txBody>
          <a:bodyPr wrap="square" rtlCol="0" anchor="ctr"/>
          <a:lstStyle/>
          <a:p>
            <a:pPr marL="0" indent="0" algn="ctr">
              <a:buNone/>
            </a:pPr>
            <a:r>
              <a:rPr lang="en-US" sz="1250" i="1" dirty="0">
                <a:solidFill>
                  <a:srgbClr val="6B6B63"/>
                </a:solidFill>
                <a:latin typeface="Calibri" pitchFamily="34" charset="0"/>
                <a:ea typeface="Calibri" pitchFamily="34" charset="-122"/>
                <a:cs typeface="Calibri" pitchFamily="34" charset="-120"/>
              </a:rPr>
              <a:t>Screenshots of each running APEX page are included in the full project report.</a:t>
            </a:r>
            <a:endParaRPr lang="en-US" sz="1250" dirty="0"/>
          </a:p>
        </p:txBody>
      </p:sp>
      <p:sp>
        <p:nvSpPr>
          <p:cNvPr id="27" name="Text 21"/>
          <p:cNvSpPr/>
          <p:nvPr/>
        </p:nvSpPr>
        <p:spPr>
          <a:xfrm>
            <a:off x="640080" y="6510528"/>
            <a:ext cx="10972800" cy="274320"/>
          </a:xfrm>
          <a:prstGeom prst="rect">
            <a:avLst/>
          </a:prstGeom>
          <a:noFill/>
          <a:ln/>
        </p:spPr>
        <p:txBody>
          <a:bodyPr wrap="square" rtlCol="0" anchor="ctr"/>
          <a:lstStyle/>
          <a:p>
            <a:pPr marL="0" indent="0">
              <a:buNone/>
            </a:pPr>
            <a:r>
              <a:rPr lang="en-US" sz="950" dirty="0">
                <a:solidFill>
                  <a:srgbClr val="6B6B63"/>
                </a:solidFill>
                <a:latin typeface="Calibri" pitchFamily="34" charset="0"/>
                <a:ea typeface="Calibri" pitchFamily="34" charset="-122"/>
                <a:cs typeface="Calibri" pitchFamily="34" charset="-120"/>
              </a:rPr>
              <a:t>Farmer Produce &amp; Market Supply Chain Management System   |   8 / 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F3D22"/>
          </a:solidFill>
          <a:ln/>
        </p:spPr>
      </p:sp>
      <p:sp>
        <p:nvSpPr>
          <p:cNvPr id="3" name="Text 1"/>
          <p:cNvSpPr/>
          <p:nvPr/>
        </p:nvSpPr>
        <p:spPr>
          <a:xfrm>
            <a:off x="640080" y="128016"/>
            <a:ext cx="7315200" cy="274320"/>
          </a:xfrm>
          <a:prstGeom prst="rect">
            <a:avLst/>
          </a:prstGeom>
          <a:noFill/>
          <a:ln/>
        </p:spPr>
        <p:txBody>
          <a:bodyPr wrap="square" rtlCol="0" anchor="ctr"/>
          <a:lstStyle/>
          <a:p>
            <a:pPr marL="0" indent="0">
              <a:buNone/>
            </a:pPr>
            <a:r>
              <a:rPr lang="en-US" sz="1100" b="1" kern="0" spc="150" dirty="0">
                <a:solidFill>
                  <a:srgbClr val="D9A441"/>
                </a:solidFill>
                <a:latin typeface="Helvetica "/>
                <a:ea typeface="Calibri" pitchFamily="34" charset="-122"/>
                <a:cs typeface="Calibri" pitchFamily="34" charset="-120"/>
              </a:rPr>
              <a:t>07 · OUTCOMES ACHIEVED</a:t>
            </a:r>
            <a:endParaRPr lang="en-US" sz="1100" dirty="0">
              <a:latin typeface="Helvetica "/>
            </a:endParaRPr>
          </a:p>
        </p:txBody>
      </p:sp>
      <p:sp>
        <p:nvSpPr>
          <p:cNvPr id="4" name="Text 2"/>
          <p:cNvSpPr/>
          <p:nvPr/>
        </p:nvSpPr>
        <p:spPr>
          <a:xfrm>
            <a:off x="640080" y="365760"/>
            <a:ext cx="9601200" cy="548640"/>
          </a:xfrm>
          <a:prstGeom prst="rect">
            <a:avLst/>
          </a:prstGeom>
          <a:noFill/>
          <a:ln/>
        </p:spPr>
        <p:txBody>
          <a:bodyPr wrap="square" rtlCol="0" anchor="ctr"/>
          <a:lstStyle/>
          <a:p>
            <a:pPr marL="0" indent="0">
              <a:buNone/>
            </a:pPr>
            <a:r>
              <a:rPr lang="en-US" sz="2400" b="1" dirty="0">
                <a:solidFill>
                  <a:srgbClr val="FFFFFF"/>
                </a:solidFill>
                <a:latin typeface="Helvetica "/>
                <a:ea typeface="Cambria" pitchFamily="34" charset="-122"/>
                <a:cs typeface="Cambria" pitchFamily="34" charset="-120"/>
              </a:rPr>
              <a:t>Results</a:t>
            </a:r>
            <a:endParaRPr lang="en-US" sz="2400" dirty="0">
              <a:latin typeface="Helvetica "/>
            </a:endParaRPr>
          </a:p>
        </p:txBody>
      </p:sp>
      <p:sp>
        <p:nvSpPr>
          <p:cNvPr id="5" name="Text 3"/>
          <p:cNvSpPr/>
          <p:nvPr/>
        </p:nvSpPr>
        <p:spPr>
          <a:xfrm>
            <a:off x="10698480" y="320040"/>
            <a:ext cx="1188720" cy="320040"/>
          </a:xfrm>
          <a:prstGeom prst="rect">
            <a:avLst/>
          </a:prstGeom>
          <a:noFill/>
          <a:ln/>
        </p:spPr>
        <p:txBody>
          <a:bodyPr wrap="square" rtlCol="0" anchor="ctr"/>
          <a:lstStyle/>
          <a:p>
            <a:pPr marL="0" indent="0" algn="r">
              <a:buNone/>
            </a:pPr>
            <a:r>
              <a:rPr lang="en-US" sz="1050" dirty="0">
                <a:solidFill>
                  <a:srgbClr val="9FB48A"/>
                </a:solidFill>
                <a:latin typeface="Calibri" pitchFamily="34" charset="0"/>
                <a:ea typeface="Calibri" pitchFamily="34" charset="-122"/>
                <a:cs typeface="Calibri" pitchFamily="34" charset="-120"/>
              </a:rPr>
              <a:t>DPR400210</a:t>
            </a:r>
            <a:endParaRPr lang="en-US" sz="1050" dirty="0"/>
          </a:p>
        </p:txBody>
      </p:sp>
      <p:sp>
        <p:nvSpPr>
          <p:cNvPr id="6" name="Shape 4"/>
          <p:cNvSpPr/>
          <p:nvPr/>
        </p:nvSpPr>
        <p:spPr>
          <a:xfrm>
            <a:off x="640080" y="1463040"/>
            <a:ext cx="2606040" cy="1920240"/>
          </a:xfrm>
          <a:prstGeom prst="roundRect">
            <a:avLst>
              <a:gd name="adj" fmla="val 5714"/>
            </a:avLst>
          </a:prstGeom>
          <a:solidFill>
            <a:srgbClr val="F3F6EE"/>
          </a:solidFill>
          <a:ln/>
        </p:spPr>
      </p:sp>
      <p:sp>
        <p:nvSpPr>
          <p:cNvPr id="7" name="Text 5"/>
          <p:cNvSpPr/>
          <p:nvPr/>
        </p:nvSpPr>
        <p:spPr>
          <a:xfrm>
            <a:off x="640080" y="1600200"/>
            <a:ext cx="2606040" cy="822960"/>
          </a:xfrm>
          <a:prstGeom prst="rect">
            <a:avLst/>
          </a:prstGeom>
          <a:noFill/>
          <a:ln/>
        </p:spPr>
        <p:txBody>
          <a:bodyPr wrap="square" rtlCol="0" anchor="ctr"/>
          <a:lstStyle/>
          <a:p>
            <a:pPr marL="0" indent="0" algn="ctr">
              <a:buNone/>
            </a:pPr>
            <a:r>
              <a:rPr lang="en-US" sz="4400" b="1" dirty="0">
                <a:solidFill>
                  <a:srgbClr val="1F3D22"/>
                </a:solidFill>
                <a:latin typeface="Cambria" pitchFamily="34" charset="0"/>
                <a:ea typeface="Cambria" pitchFamily="34" charset="-122"/>
                <a:cs typeface="Cambria" pitchFamily="34" charset="-120"/>
              </a:rPr>
              <a:t>9</a:t>
            </a:r>
            <a:endParaRPr lang="en-US" sz="4400" dirty="0"/>
          </a:p>
        </p:txBody>
      </p:sp>
      <p:sp>
        <p:nvSpPr>
          <p:cNvPr id="8" name="Text 6"/>
          <p:cNvSpPr/>
          <p:nvPr/>
        </p:nvSpPr>
        <p:spPr>
          <a:xfrm>
            <a:off x="731520" y="2468880"/>
            <a:ext cx="2423160" cy="365760"/>
          </a:xfrm>
          <a:prstGeom prst="rect">
            <a:avLst/>
          </a:prstGeom>
          <a:noFill/>
          <a:ln/>
        </p:spPr>
        <p:txBody>
          <a:bodyPr wrap="square" rtlCol="0" anchor="ctr"/>
          <a:lstStyle/>
          <a:p>
            <a:pPr marL="0" indent="0" algn="ctr">
              <a:buNone/>
            </a:pPr>
            <a:r>
              <a:rPr lang="en-US" sz="1300" b="1" dirty="0">
                <a:solidFill>
                  <a:srgbClr val="2A2A26"/>
                </a:solidFill>
                <a:latin typeface="Helvetica "/>
                <a:ea typeface="Calibri" pitchFamily="34" charset="-122"/>
                <a:cs typeface="Calibri" pitchFamily="34" charset="-120"/>
              </a:rPr>
              <a:t>Database tables</a:t>
            </a:r>
            <a:endParaRPr lang="en-US" sz="1300" dirty="0">
              <a:latin typeface="Helvetica "/>
            </a:endParaRPr>
          </a:p>
        </p:txBody>
      </p:sp>
      <p:sp>
        <p:nvSpPr>
          <p:cNvPr id="9" name="Text 7"/>
          <p:cNvSpPr/>
          <p:nvPr/>
        </p:nvSpPr>
        <p:spPr>
          <a:xfrm>
            <a:off x="777240" y="2834640"/>
            <a:ext cx="2331720" cy="457200"/>
          </a:xfrm>
          <a:prstGeom prst="rect">
            <a:avLst/>
          </a:prstGeom>
          <a:noFill/>
          <a:ln/>
        </p:spPr>
        <p:txBody>
          <a:bodyPr wrap="square" rtlCol="0" anchor="ctr"/>
          <a:lstStyle/>
          <a:p>
            <a:pPr marL="0" indent="0" algn="ctr">
              <a:lnSpc>
                <a:spcPts val="1400"/>
              </a:lnSpc>
              <a:buNone/>
            </a:pPr>
            <a:r>
              <a:rPr lang="en-US" sz="1100" dirty="0">
                <a:solidFill>
                  <a:srgbClr val="6B6B63"/>
                </a:solidFill>
                <a:latin typeface="Helvetica "/>
                <a:ea typeface="Calibri" pitchFamily="34" charset="-122"/>
                <a:cs typeface="Calibri" pitchFamily="34" charset="-120"/>
              </a:rPr>
              <a:t>fully normalized to 3NF</a:t>
            </a:r>
            <a:endParaRPr lang="en-US" sz="1100" dirty="0">
              <a:latin typeface="Helvetica "/>
            </a:endParaRPr>
          </a:p>
        </p:txBody>
      </p:sp>
      <p:sp>
        <p:nvSpPr>
          <p:cNvPr id="10" name="Shape 8"/>
          <p:cNvSpPr/>
          <p:nvPr/>
        </p:nvSpPr>
        <p:spPr>
          <a:xfrm>
            <a:off x="3474720" y="1463040"/>
            <a:ext cx="2606040" cy="1920240"/>
          </a:xfrm>
          <a:prstGeom prst="roundRect">
            <a:avLst>
              <a:gd name="adj" fmla="val 5714"/>
            </a:avLst>
          </a:prstGeom>
          <a:solidFill>
            <a:srgbClr val="F3F6EE"/>
          </a:solidFill>
          <a:ln/>
        </p:spPr>
      </p:sp>
      <p:sp>
        <p:nvSpPr>
          <p:cNvPr id="11" name="Text 9"/>
          <p:cNvSpPr/>
          <p:nvPr/>
        </p:nvSpPr>
        <p:spPr>
          <a:xfrm>
            <a:off x="3474720" y="1600200"/>
            <a:ext cx="2606040" cy="822960"/>
          </a:xfrm>
          <a:prstGeom prst="rect">
            <a:avLst/>
          </a:prstGeom>
          <a:noFill/>
          <a:ln/>
        </p:spPr>
        <p:txBody>
          <a:bodyPr wrap="square" rtlCol="0" anchor="ctr"/>
          <a:lstStyle/>
          <a:p>
            <a:pPr marL="0" indent="0" algn="ctr">
              <a:buNone/>
            </a:pPr>
            <a:r>
              <a:rPr lang="en-US" sz="4400" b="1" dirty="0">
                <a:solidFill>
                  <a:srgbClr val="1F3D22"/>
                </a:solidFill>
                <a:latin typeface="Cambria" pitchFamily="34" charset="0"/>
                <a:ea typeface="Cambria" pitchFamily="34" charset="-122"/>
                <a:cs typeface="Cambria" pitchFamily="34" charset="-120"/>
              </a:rPr>
              <a:t>2</a:t>
            </a:r>
            <a:endParaRPr lang="en-US" sz="4400" dirty="0"/>
          </a:p>
        </p:txBody>
      </p:sp>
      <p:sp>
        <p:nvSpPr>
          <p:cNvPr id="12" name="Text 10"/>
          <p:cNvSpPr/>
          <p:nvPr/>
        </p:nvSpPr>
        <p:spPr>
          <a:xfrm>
            <a:off x="3566160" y="2468880"/>
            <a:ext cx="2423160" cy="365760"/>
          </a:xfrm>
          <a:prstGeom prst="rect">
            <a:avLst/>
          </a:prstGeom>
          <a:noFill/>
          <a:ln/>
        </p:spPr>
        <p:txBody>
          <a:bodyPr wrap="square" rtlCol="0" anchor="ctr"/>
          <a:lstStyle/>
          <a:p>
            <a:pPr marL="0" indent="0" algn="ctr">
              <a:buNone/>
            </a:pPr>
            <a:r>
              <a:rPr lang="en-US" sz="1300" b="1" dirty="0">
                <a:solidFill>
                  <a:srgbClr val="2A2A26"/>
                </a:solidFill>
                <a:latin typeface="Helvetica "/>
                <a:ea typeface="Calibri" pitchFamily="34" charset="-122"/>
                <a:cs typeface="Calibri" pitchFamily="34" charset="-120"/>
              </a:rPr>
              <a:t>Triggers</a:t>
            </a:r>
            <a:endParaRPr lang="en-US" sz="1300" dirty="0">
              <a:latin typeface="Helvetica "/>
            </a:endParaRPr>
          </a:p>
        </p:txBody>
      </p:sp>
      <p:sp>
        <p:nvSpPr>
          <p:cNvPr id="13" name="Text 11"/>
          <p:cNvSpPr/>
          <p:nvPr/>
        </p:nvSpPr>
        <p:spPr>
          <a:xfrm>
            <a:off x="3611880" y="2834640"/>
            <a:ext cx="2331720" cy="457200"/>
          </a:xfrm>
          <a:prstGeom prst="rect">
            <a:avLst/>
          </a:prstGeom>
          <a:noFill/>
          <a:ln/>
        </p:spPr>
        <p:txBody>
          <a:bodyPr wrap="square" rtlCol="0" anchor="ctr"/>
          <a:lstStyle/>
          <a:p>
            <a:pPr marL="0" indent="0" algn="ctr">
              <a:lnSpc>
                <a:spcPts val="1400"/>
              </a:lnSpc>
              <a:buNone/>
            </a:pPr>
            <a:r>
              <a:rPr lang="en-US" sz="1100" dirty="0">
                <a:solidFill>
                  <a:srgbClr val="6B6B63"/>
                </a:solidFill>
                <a:latin typeface="Calibri" pitchFamily="34" charset="0"/>
                <a:ea typeface="Calibri" pitchFamily="34" charset="-122"/>
                <a:cs typeface="Calibri" pitchFamily="34" charset="-120"/>
              </a:rPr>
              <a:t>business rule + audit logging</a:t>
            </a:r>
            <a:endParaRPr lang="en-US" sz="1100" dirty="0"/>
          </a:p>
        </p:txBody>
      </p:sp>
      <p:sp>
        <p:nvSpPr>
          <p:cNvPr id="14" name="Shape 12"/>
          <p:cNvSpPr/>
          <p:nvPr/>
        </p:nvSpPr>
        <p:spPr>
          <a:xfrm>
            <a:off x="6309360" y="1463040"/>
            <a:ext cx="2606040" cy="1920240"/>
          </a:xfrm>
          <a:prstGeom prst="roundRect">
            <a:avLst>
              <a:gd name="adj" fmla="val 5714"/>
            </a:avLst>
          </a:prstGeom>
          <a:solidFill>
            <a:srgbClr val="F3F6EE"/>
          </a:solidFill>
          <a:ln/>
        </p:spPr>
      </p:sp>
      <p:sp>
        <p:nvSpPr>
          <p:cNvPr id="15" name="Text 13"/>
          <p:cNvSpPr/>
          <p:nvPr/>
        </p:nvSpPr>
        <p:spPr>
          <a:xfrm>
            <a:off x="6309360" y="1600200"/>
            <a:ext cx="2606040" cy="822960"/>
          </a:xfrm>
          <a:prstGeom prst="rect">
            <a:avLst/>
          </a:prstGeom>
          <a:noFill/>
          <a:ln/>
        </p:spPr>
        <p:txBody>
          <a:bodyPr wrap="square" rtlCol="0" anchor="ctr"/>
          <a:lstStyle/>
          <a:p>
            <a:pPr marL="0" indent="0" algn="ctr">
              <a:buNone/>
            </a:pPr>
            <a:r>
              <a:rPr lang="en-US" sz="4400" b="1" dirty="0">
                <a:solidFill>
                  <a:srgbClr val="1F3D22"/>
                </a:solidFill>
                <a:latin typeface="Cambria" pitchFamily="34" charset="0"/>
                <a:ea typeface="Cambria" pitchFamily="34" charset="-122"/>
                <a:cs typeface="Cambria" pitchFamily="34" charset="-120"/>
              </a:rPr>
              <a:t>3</a:t>
            </a:r>
            <a:endParaRPr lang="en-US" sz="4400" dirty="0"/>
          </a:p>
        </p:txBody>
      </p:sp>
      <p:sp>
        <p:nvSpPr>
          <p:cNvPr id="16" name="Text 14"/>
          <p:cNvSpPr/>
          <p:nvPr/>
        </p:nvSpPr>
        <p:spPr>
          <a:xfrm>
            <a:off x="6400800" y="2468880"/>
            <a:ext cx="2423160" cy="365760"/>
          </a:xfrm>
          <a:prstGeom prst="rect">
            <a:avLst/>
          </a:prstGeom>
          <a:noFill/>
          <a:ln/>
        </p:spPr>
        <p:txBody>
          <a:bodyPr wrap="square" rtlCol="0" anchor="ctr"/>
          <a:lstStyle/>
          <a:p>
            <a:pPr marL="0" indent="0" algn="ctr">
              <a:buNone/>
            </a:pPr>
            <a:r>
              <a:rPr lang="en-US" sz="1300" b="1" dirty="0">
                <a:solidFill>
                  <a:srgbClr val="2A2A26"/>
                </a:solidFill>
                <a:latin typeface="Helvetica "/>
                <a:ea typeface="Calibri" pitchFamily="34" charset="-122"/>
                <a:cs typeface="Calibri" pitchFamily="34" charset="-120"/>
              </a:rPr>
              <a:t>User roles</a:t>
            </a:r>
            <a:endParaRPr lang="en-US" sz="1300" dirty="0">
              <a:latin typeface="Helvetica "/>
            </a:endParaRPr>
          </a:p>
        </p:txBody>
      </p:sp>
      <p:sp>
        <p:nvSpPr>
          <p:cNvPr id="17" name="Text 15"/>
          <p:cNvSpPr/>
          <p:nvPr/>
        </p:nvSpPr>
        <p:spPr>
          <a:xfrm>
            <a:off x="6446520" y="2834640"/>
            <a:ext cx="2331720" cy="457200"/>
          </a:xfrm>
          <a:prstGeom prst="rect">
            <a:avLst/>
          </a:prstGeom>
          <a:noFill/>
          <a:ln/>
        </p:spPr>
        <p:txBody>
          <a:bodyPr wrap="square" rtlCol="0" anchor="ctr"/>
          <a:lstStyle/>
          <a:p>
            <a:pPr marL="0" indent="0" algn="ctr">
              <a:lnSpc>
                <a:spcPts val="1400"/>
              </a:lnSpc>
              <a:buNone/>
            </a:pPr>
            <a:r>
              <a:rPr lang="en-US" sz="1100" dirty="0">
                <a:solidFill>
                  <a:srgbClr val="6B6B63"/>
                </a:solidFill>
                <a:latin typeface="Helvetica "/>
                <a:ea typeface="Calibri" pitchFamily="34" charset="-122"/>
                <a:cs typeface="Calibri" pitchFamily="34" charset="-120"/>
              </a:rPr>
              <a:t>clerk, buyer-viewer, admin</a:t>
            </a:r>
            <a:endParaRPr lang="en-US" sz="1100" dirty="0">
              <a:latin typeface="Helvetica "/>
            </a:endParaRPr>
          </a:p>
        </p:txBody>
      </p:sp>
      <p:sp>
        <p:nvSpPr>
          <p:cNvPr id="18" name="Shape 16"/>
          <p:cNvSpPr/>
          <p:nvPr/>
        </p:nvSpPr>
        <p:spPr>
          <a:xfrm>
            <a:off x="9144000" y="1463040"/>
            <a:ext cx="2606040" cy="1920240"/>
          </a:xfrm>
          <a:prstGeom prst="roundRect">
            <a:avLst>
              <a:gd name="adj" fmla="val 5714"/>
            </a:avLst>
          </a:prstGeom>
          <a:solidFill>
            <a:srgbClr val="F3F6EE"/>
          </a:solidFill>
          <a:ln/>
        </p:spPr>
      </p:sp>
      <p:sp>
        <p:nvSpPr>
          <p:cNvPr id="19" name="Text 17"/>
          <p:cNvSpPr/>
          <p:nvPr/>
        </p:nvSpPr>
        <p:spPr>
          <a:xfrm>
            <a:off x="9144000" y="1600200"/>
            <a:ext cx="2606040" cy="822960"/>
          </a:xfrm>
          <a:prstGeom prst="rect">
            <a:avLst/>
          </a:prstGeom>
          <a:noFill/>
          <a:ln/>
        </p:spPr>
        <p:txBody>
          <a:bodyPr wrap="square" rtlCol="0" anchor="ctr"/>
          <a:lstStyle/>
          <a:p>
            <a:pPr marL="0" indent="0" algn="ctr">
              <a:buNone/>
            </a:pPr>
            <a:r>
              <a:rPr lang="en-US" sz="4400" b="1" dirty="0">
                <a:solidFill>
                  <a:srgbClr val="1F3D22"/>
                </a:solidFill>
                <a:latin typeface="Cambria" pitchFamily="34" charset="0"/>
                <a:ea typeface="Cambria" pitchFamily="34" charset="-122"/>
                <a:cs typeface="Cambria" pitchFamily="34" charset="-120"/>
              </a:rPr>
              <a:t>8</a:t>
            </a:r>
            <a:endParaRPr lang="en-US" sz="4400" dirty="0"/>
          </a:p>
        </p:txBody>
      </p:sp>
      <p:sp>
        <p:nvSpPr>
          <p:cNvPr id="20" name="Text 18"/>
          <p:cNvSpPr/>
          <p:nvPr/>
        </p:nvSpPr>
        <p:spPr>
          <a:xfrm>
            <a:off x="9235440" y="2468880"/>
            <a:ext cx="2423160" cy="365760"/>
          </a:xfrm>
          <a:prstGeom prst="rect">
            <a:avLst/>
          </a:prstGeom>
          <a:noFill/>
          <a:ln/>
        </p:spPr>
        <p:txBody>
          <a:bodyPr wrap="square" rtlCol="0" anchor="ctr"/>
          <a:lstStyle/>
          <a:p>
            <a:pPr marL="0" indent="0" algn="ctr">
              <a:buNone/>
            </a:pPr>
            <a:r>
              <a:rPr lang="en-US" sz="1300" b="1" dirty="0">
                <a:solidFill>
                  <a:srgbClr val="2A2A26"/>
                </a:solidFill>
                <a:latin typeface="Helvetica "/>
                <a:ea typeface="Calibri" pitchFamily="34" charset="-122"/>
                <a:cs typeface="Calibri" pitchFamily="34" charset="-120"/>
              </a:rPr>
              <a:t>APEX pages</a:t>
            </a:r>
            <a:endParaRPr lang="en-US" sz="1300" dirty="0">
              <a:latin typeface="Helvetica "/>
            </a:endParaRPr>
          </a:p>
        </p:txBody>
      </p:sp>
      <p:sp>
        <p:nvSpPr>
          <p:cNvPr id="21" name="Text 19"/>
          <p:cNvSpPr/>
          <p:nvPr/>
        </p:nvSpPr>
        <p:spPr>
          <a:xfrm>
            <a:off x="9281160" y="2834640"/>
            <a:ext cx="2331720" cy="457200"/>
          </a:xfrm>
          <a:prstGeom prst="rect">
            <a:avLst/>
          </a:prstGeom>
          <a:noFill/>
          <a:ln/>
        </p:spPr>
        <p:txBody>
          <a:bodyPr wrap="square" rtlCol="0" anchor="ctr"/>
          <a:lstStyle/>
          <a:p>
            <a:pPr marL="0" indent="0" algn="ctr">
              <a:lnSpc>
                <a:spcPts val="1400"/>
              </a:lnSpc>
              <a:buNone/>
            </a:pPr>
            <a:r>
              <a:rPr lang="en-US" sz="1100" dirty="0">
                <a:solidFill>
                  <a:srgbClr val="6B6B63"/>
                </a:solidFill>
                <a:latin typeface="Helvetica "/>
                <a:ea typeface="Calibri" pitchFamily="34" charset="-122"/>
                <a:cs typeface="Calibri" pitchFamily="34" charset="-120"/>
              </a:rPr>
              <a:t>end-to-end workflow coverage</a:t>
            </a:r>
            <a:endParaRPr lang="en-US" sz="1100" dirty="0">
              <a:latin typeface="Helvetica "/>
            </a:endParaRPr>
          </a:p>
        </p:txBody>
      </p:sp>
      <p:sp>
        <p:nvSpPr>
          <p:cNvPr id="22" name="Shape 20"/>
          <p:cNvSpPr/>
          <p:nvPr/>
        </p:nvSpPr>
        <p:spPr>
          <a:xfrm>
            <a:off x="640080" y="3657600"/>
            <a:ext cx="10881360" cy="2377440"/>
          </a:xfrm>
          <a:prstGeom prst="roundRect">
            <a:avLst>
              <a:gd name="adj" fmla="val 4615"/>
            </a:avLst>
          </a:prstGeom>
          <a:solidFill>
            <a:srgbClr val="1F3D22"/>
          </a:solidFill>
          <a:ln/>
        </p:spPr>
      </p:sp>
      <p:sp>
        <p:nvSpPr>
          <p:cNvPr id="23" name="Text 21"/>
          <p:cNvSpPr/>
          <p:nvPr/>
        </p:nvSpPr>
        <p:spPr>
          <a:xfrm>
            <a:off x="960120" y="3886200"/>
            <a:ext cx="10058400" cy="41148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What the System Now Makes Possible</a:t>
            </a:r>
            <a:endParaRPr lang="en-US" sz="1600" dirty="0"/>
          </a:p>
        </p:txBody>
      </p:sp>
      <p:sp>
        <p:nvSpPr>
          <p:cNvPr id="24" name="Shape 22"/>
          <p:cNvSpPr/>
          <p:nvPr/>
        </p:nvSpPr>
        <p:spPr>
          <a:xfrm>
            <a:off x="960120" y="4480560"/>
            <a:ext cx="128016" cy="128016"/>
          </a:xfrm>
          <a:prstGeom prst="ellipse">
            <a:avLst/>
          </a:prstGeom>
          <a:solidFill>
            <a:srgbClr val="D9A441"/>
          </a:solidFill>
          <a:ln/>
        </p:spPr>
      </p:sp>
      <p:sp>
        <p:nvSpPr>
          <p:cNvPr id="25" name="Text 23"/>
          <p:cNvSpPr/>
          <p:nvPr/>
        </p:nvSpPr>
        <p:spPr>
          <a:xfrm>
            <a:off x="1252728" y="4325112"/>
            <a:ext cx="4937760" cy="548640"/>
          </a:xfrm>
          <a:prstGeom prst="rect">
            <a:avLst/>
          </a:prstGeom>
          <a:noFill/>
          <a:ln/>
        </p:spPr>
        <p:txBody>
          <a:bodyPr wrap="square" rtlCol="0" anchor="ctr"/>
          <a:lstStyle/>
          <a:p>
            <a:pPr marL="0" indent="0">
              <a:lnSpc>
                <a:spcPts val="1600"/>
              </a:lnSpc>
              <a:buNone/>
            </a:pPr>
            <a:r>
              <a:rPr lang="en-US" sz="1250" dirty="0">
                <a:solidFill>
                  <a:srgbClr val="E4E9DC"/>
                </a:solidFill>
                <a:latin typeface="Helvetica "/>
                <a:ea typeface="Calibri" pitchFamily="34" charset="-122"/>
                <a:cs typeface="Calibri" pitchFamily="34" charset="-120"/>
              </a:rPr>
              <a:t>Every harvest, sale, and payment is traceable end-to-end</a:t>
            </a:r>
            <a:endParaRPr lang="en-US" sz="1250" dirty="0">
              <a:latin typeface="Helvetica "/>
            </a:endParaRPr>
          </a:p>
        </p:txBody>
      </p:sp>
      <p:sp>
        <p:nvSpPr>
          <p:cNvPr id="26" name="Shape 24"/>
          <p:cNvSpPr/>
          <p:nvPr/>
        </p:nvSpPr>
        <p:spPr>
          <a:xfrm>
            <a:off x="6217920" y="4480560"/>
            <a:ext cx="128016" cy="128016"/>
          </a:xfrm>
          <a:prstGeom prst="ellipse">
            <a:avLst/>
          </a:prstGeom>
          <a:solidFill>
            <a:srgbClr val="D9A441"/>
          </a:solidFill>
          <a:ln/>
        </p:spPr>
      </p:sp>
      <p:sp>
        <p:nvSpPr>
          <p:cNvPr id="27" name="Text 25"/>
          <p:cNvSpPr/>
          <p:nvPr/>
        </p:nvSpPr>
        <p:spPr>
          <a:xfrm>
            <a:off x="6510528" y="4325112"/>
            <a:ext cx="4937760" cy="548640"/>
          </a:xfrm>
          <a:prstGeom prst="rect">
            <a:avLst/>
          </a:prstGeom>
          <a:noFill/>
          <a:ln/>
        </p:spPr>
        <p:txBody>
          <a:bodyPr wrap="square" rtlCol="0" anchor="ctr"/>
          <a:lstStyle/>
          <a:p>
            <a:pPr marL="0" indent="0">
              <a:lnSpc>
                <a:spcPts val="1600"/>
              </a:lnSpc>
              <a:buNone/>
            </a:pPr>
            <a:r>
              <a:rPr lang="en-US" sz="1250" dirty="0">
                <a:solidFill>
                  <a:srgbClr val="E4E9DC"/>
                </a:solidFill>
                <a:latin typeface="Helvetica "/>
                <a:ea typeface="Calibri" pitchFamily="34" charset="-122"/>
                <a:cs typeface="Calibri" pitchFamily="34" charset="-120"/>
              </a:rPr>
              <a:t>Sales outside approved trading windows are blocked automatically</a:t>
            </a:r>
            <a:endParaRPr lang="en-US" sz="1250" dirty="0">
              <a:latin typeface="Helvetica "/>
            </a:endParaRPr>
          </a:p>
        </p:txBody>
      </p:sp>
      <p:sp>
        <p:nvSpPr>
          <p:cNvPr id="28" name="Shape 26"/>
          <p:cNvSpPr/>
          <p:nvPr/>
        </p:nvSpPr>
        <p:spPr>
          <a:xfrm>
            <a:off x="960120" y="5166360"/>
            <a:ext cx="128016" cy="128016"/>
          </a:xfrm>
          <a:prstGeom prst="ellipse">
            <a:avLst/>
          </a:prstGeom>
          <a:solidFill>
            <a:srgbClr val="D9A441"/>
          </a:solidFill>
          <a:ln/>
        </p:spPr>
      </p:sp>
      <p:sp>
        <p:nvSpPr>
          <p:cNvPr id="29" name="Text 27"/>
          <p:cNvSpPr/>
          <p:nvPr/>
        </p:nvSpPr>
        <p:spPr>
          <a:xfrm>
            <a:off x="1252728" y="5010912"/>
            <a:ext cx="4937760" cy="548640"/>
          </a:xfrm>
          <a:prstGeom prst="rect">
            <a:avLst/>
          </a:prstGeom>
          <a:noFill/>
          <a:ln/>
        </p:spPr>
        <p:txBody>
          <a:bodyPr wrap="square" rtlCol="0" anchor="ctr"/>
          <a:lstStyle/>
          <a:p>
            <a:pPr marL="0" indent="0">
              <a:lnSpc>
                <a:spcPts val="1600"/>
              </a:lnSpc>
              <a:buNone/>
            </a:pPr>
            <a:r>
              <a:rPr lang="en-US" sz="1250" dirty="0">
                <a:solidFill>
                  <a:srgbClr val="E4E9DC"/>
                </a:solidFill>
                <a:latin typeface="Helvetica "/>
                <a:ea typeface="Calibri" pitchFamily="34" charset="-122"/>
                <a:cs typeface="Calibri" pitchFamily="34" charset="-120"/>
              </a:rPr>
              <a:t>Admins get real-time visibility into revenue and unpaid sales</a:t>
            </a:r>
            <a:endParaRPr lang="en-US" sz="1250" dirty="0">
              <a:latin typeface="Helvetica "/>
            </a:endParaRPr>
          </a:p>
        </p:txBody>
      </p:sp>
      <p:sp>
        <p:nvSpPr>
          <p:cNvPr id="30" name="Shape 28"/>
          <p:cNvSpPr/>
          <p:nvPr/>
        </p:nvSpPr>
        <p:spPr>
          <a:xfrm>
            <a:off x="6217920" y="5166360"/>
            <a:ext cx="128016" cy="128016"/>
          </a:xfrm>
          <a:prstGeom prst="ellipse">
            <a:avLst/>
          </a:prstGeom>
          <a:solidFill>
            <a:srgbClr val="D9A441"/>
          </a:solidFill>
          <a:ln/>
        </p:spPr>
      </p:sp>
      <p:sp>
        <p:nvSpPr>
          <p:cNvPr id="31" name="Text 29"/>
          <p:cNvSpPr/>
          <p:nvPr/>
        </p:nvSpPr>
        <p:spPr>
          <a:xfrm>
            <a:off x="6510528" y="5010912"/>
            <a:ext cx="4937760" cy="548640"/>
          </a:xfrm>
          <a:prstGeom prst="rect">
            <a:avLst/>
          </a:prstGeom>
          <a:noFill/>
          <a:ln/>
        </p:spPr>
        <p:txBody>
          <a:bodyPr wrap="square" rtlCol="0" anchor="ctr"/>
          <a:lstStyle/>
          <a:p>
            <a:pPr marL="0" indent="0">
              <a:lnSpc>
                <a:spcPts val="1600"/>
              </a:lnSpc>
              <a:buNone/>
            </a:pPr>
            <a:r>
              <a:rPr lang="en-US" sz="1250" dirty="0">
                <a:solidFill>
                  <a:srgbClr val="E4E9DC"/>
                </a:solidFill>
                <a:latin typeface="Helvetica "/>
                <a:ea typeface="Calibri" pitchFamily="34" charset="-122"/>
                <a:cs typeface="Calibri" pitchFamily="34" charset="-120"/>
              </a:rPr>
              <a:t>Every data change is logged with who did it and when</a:t>
            </a:r>
            <a:endParaRPr lang="en-US" sz="1250" dirty="0">
              <a:latin typeface="Helvetica "/>
            </a:endParaRPr>
          </a:p>
        </p:txBody>
      </p:sp>
      <p:sp>
        <p:nvSpPr>
          <p:cNvPr id="32" name="Text 30"/>
          <p:cNvSpPr/>
          <p:nvPr/>
        </p:nvSpPr>
        <p:spPr>
          <a:xfrm>
            <a:off x="640080" y="6510528"/>
            <a:ext cx="10972800" cy="274320"/>
          </a:xfrm>
          <a:prstGeom prst="rect">
            <a:avLst/>
          </a:prstGeom>
          <a:noFill/>
          <a:ln/>
        </p:spPr>
        <p:txBody>
          <a:bodyPr wrap="square" rtlCol="0" anchor="ctr"/>
          <a:lstStyle/>
          <a:p>
            <a:pPr marL="0" indent="0">
              <a:buNone/>
            </a:pPr>
            <a:r>
              <a:rPr lang="en-US" sz="950" dirty="0">
                <a:solidFill>
                  <a:srgbClr val="6B6B63"/>
                </a:solidFill>
                <a:latin typeface="Calibri" pitchFamily="34" charset="0"/>
                <a:ea typeface="Calibri" pitchFamily="34" charset="-122"/>
                <a:cs typeface="Calibri" pitchFamily="34" charset="-120"/>
              </a:rPr>
              <a:t>Farmer Produce &amp; Market Supply Chain Management System   |   9 / 10</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1F3D22"/>
        </a:solidFill>
        <a:effectLst/>
      </p:bgPr>
    </p:bg>
    <p:spTree>
      <p:nvGrpSpPr>
        <p:cNvPr id="1" name=""/>
        <p:cNvGrpSpPr/>
        <p:nvPr/>
      </p:nvGrpSpPr>
      <p:grpSpPr>
        <a:xfrm>
          <a:off x="0" y="0"/>
          <a:ext cx="0" cy="0"/>
          <a:chOff x="0" y="0"/>
          <a:chExt cx="0" cy="0"/>
        </a:xfrm>
      </p:grpSpPr>
      <p:sp>
        <p:nvSpPr>
          <p:cNvPr id="2" name="Shape 0"/>
          <p:cNvSpPr/>
          <p:nvPr/>
        </p:nvSpPr>
        <p:spPr>
          <a:xfrm>
            <a:off x="-2286000" y="3657600"/>
            <a:ext cx="5486400" cy="5486400"/>
          </a:xfrm>
          <a:prstGeom prst="ellipse">
            <a:avLst/>
          </a:prstGeom>
          <a:solidFill>
            <a:srgbClr val="13251A"/>
          </a:solidFill>
          <a:ln/>
        </p:spPr>
      </p:sp>
      <p:sp>
        <p:nvSpPr>
          <p:cNvPr id="3" name="Shape 1"/>
          <p:cNvSpPr/>
          <p:nvPr/>
        </p:nvSpPr>
        <p:spPr>
          <a:xfrm>
            <a:off x="9601200" y="-1828800"/>
            <a:ext cx="4572000" cy="4572000"/>
          </a:xfrm>
          <a:prstGeom prst="ellipse">
            <a:avLst/>
          </a:prstGeom>
          <a:solidFill>
            <a:srgbClr val="6E9B4E">
              <a:alpha val="22000"/>
            </a:srgbClr>
          </a:solidFill>
          <a:ln/>
        </p:spPr>
      </p:sp>
      <p:sp>
        <p:nvSpPr>
          <p:cNvPr id="4" name="Text 2"/>
          <p:cNvSpPr/>
          <p:nvPr/>
        </p:nvSpPr>
        <p:spPr>
          <a:xfrm>
            <a:off x="640080" y="640080"/>
            <a:ext cx="5486400" cy="365760"/>
          </a:xfrm>
          <a:prstGeom prst="rect">
            <a:avLst/>
          </a:prstGeom>
          <a:noFill/>
          <a:ln/>
        </p:spPr>
        <p:txBody>
          <a:bodyPr wrap="square" rtlCol="0" anchor="ctr"/>
          <a:lstStyle/>
          <a:p>
            <a:pPr marL="0" indent="0">
              <a:buNone/>
            </a:pPr>
            <a:r>
              <a:rPr lang="en-US" sz="1250" b="1" kern="0" spc="200" dirty="0">
                <a:solidFill>
                  <a:srgbClr val="D9A441"/>
                </a:solidFill>
                <a:latin typeface="Helvetica "/>
                <a:ea typeface="Calibri" pitchFamily="34" charset="-122"/>
                <a:cs typeface="Calibri" pitchFamily="34" charset="-120"/>
              </a:rPr>
              <a:t>CONCLUSION</a:t>
            </a:r>
            <a:endParaRPr lang="en-US" sz="1250" dirty="0">
              <a:latin typeface="Helvetica "/>
            </a:endParaRPr>
          </a:p>
        </p:txBody>
      </p:sp>
      <p:sp>
        <p:nvSpPr>
          <p:cNvPr id="5" name="Text 3"/>
          <p:cNvSpPr/>
          <p:nvPr/>
        </p:nvSpPr>
        <p:spPr>
          <a:xfrm>
            <a:off x="621792" y="1051560"/>
            <a:ext cx="8229600" cy="1463040"/>
          </a:xfrm>
          <a:prstGeom prst="rect">
            <a:avLst/>
          </a:prstGeom>
          <a:noFill/>
          <a:ln/>
        </p:spPr>
        <p:txBody>
          <a:bodyPr wrap="square" rtlCol="0" anchor="ctr"/>
          <a:lstStyle/>
          <a:p>
            <a:pPr marL="0" indent="0">
              <a:lnSpc>
                <a:spcPts val="3600"/>
              </a:lnSpc>
              <a:buNone/>
            </a:pPr>
            <a:r>
              <a:rPr lang="en-US" sz="3200" b="1" dirty="0">
                <a:solidFill>
                  <a:srgbClr val="FFFFFF"/>
                </a:solidFill>
                <a:latin typeface="Helvetica "/>
                <a:ea typeface="Cambria" pitchFamily="34" charset="-122"/>
                <a:cs typeface="Cambria" pitchFamily="34" charset="-120"/>
              </a:rPr>
              <a:t>A Single Source of Truth,</a:t>
            </a:r>
            <a:endParaRPr lang="en-US" sz="3200" dirty="0">
              <a:latin typeface="Helvetica "/>
            </a:endParaRPr>
          </a:p>
          <a:p>
            <a:pPr marL="0" indent="0">
              <a:lnSpc>
                <a:spcPts val="3600"/>
              </a:lnSpc>
              <a:buNone/>
            </a:pPr>
            <a:r>
              <a:rPr lang="en-US" sz="3200" b="1" dirty="0">
                <a:solidFill>
                  <a:srgbClr val="FFFFFF"/>
                </a:solidFill>
                <a:latin typeface="Helvetica "/>
                <a:ea typeface="Cambria" pitchFamily="34" charset="-122"/>
                <a:cs typeface="Cambria" pitchFamily="34" charset="-120"/>
              </a:rPr>
              <a:t>From Farm to Sale</a:t>
            </a:r>
            <a:endParaRPr lang="en-US" sz="3200" dirty="0">
              <a:latin typeface="Helvetica "/>
            </a:endParaRPr>
          </a:p>
        </p:txBody>
      </p:sp>
      <p:sp>
        <p:nvSpPr>
          <p:cNvPr id="6" name="Text 4"/>
          <p:cNvSpPr/>
          <p:nvPr/>
        </p:nvSpPr>
        <p:spPr>
          <a:xfrm>
            <a:off x="640080" y="2651760"/>
            <a:ext cx="7680960" cy="1645920"/>
          </a:xfrm>
          <a:prstGeom prst="rect">
            <a:avLst/>
          </a:prstGeom>
          <a:noFill/>
          <a:ln/>
        </p:spPr>
        <p:txBody>
          <a:bodyPr wrap="square" rtlCol="0" anchor="ctr"/>
          <a:lstStyle/>
          <a:p>
            <a:pPr marL="0" indent="0">
              <a:lnSpc>
                <a:spcPts val="2200"/>
              </a:lnSpc>
              <a:buNone/>
            </a:pPr>
            <a:r>
              <a:rPr lang="en-US" sz="1500" dirty="0">
                <a:solidFill>
                  <a:srgbClr val="C9D9B8"/>
                </a:solidFill>
                <a:latin typeface="Helvetica "/>
                <a:ea typeface="Calibri" pitchFamily="34" charset="-122"/>
                <a:cs typeface="Calibri" pitchFamily="34" charset="-120"/>
              </a:rPr>
              <a:t>This capstone project delivers a complete Oracle database solution for managing farmer produce sales — from registration through harvest logging, sales, payments, and auditing. Referential integrity, business rules, and accountability are enforced at the database level, with an Oracle APEX front end providing role-based access for clerks, buyers, and administrators.</a:t>
            </a:r>
            <a:endParaRPr lang="en-US" sz="1500" dirty="0">
              <a:latin typeface="Helvetica "/>
            </a:endParaRPr>
          </a:p>
        </p:txBody>
      </p:sp>
      <p:sp>
        <p:nvSpPr>
          <p:cNvPr id="7" name="Shape 5"/>
          <p:cNvSpPr/>
          <p:nvPr/>
        </p:nvSpPr>
        <p:spPr>
          <a:xfrm>
            <a:off x="640080" y="4526280"/>
            <a:ext cx="2194560" cy="0"/>
          </a:xfrm>
          <a:prstGeom prst="line">
            <a:avLst/>
          </a:prstGeom>
          <a:noFill/>
          <a:ln w="25400">
            <a:solidFill>
              <a:srgbClr val="6E9B4E"/>
            </a:solidFill>
            <a:prstDash val="solid"/>
          </a:ln>
        </p:spPr>
      </p:sp>
      <p:sp>
        <p:nvSpPr>
          <p:cNvPr id="8" name="Text 6"/>
          <p:cNvSpPr/>
          <p:nvPr/>
        </p:nvSpPr>
        <p:spPr>
          <a:xfrm>
            <a:off x="640080" y="4754880"/>
            <a:ext cx="7315200" cy="457200"/>
          </a:xfrm>
          <a:prstGeom prst="rect">
            <a:avLst/>
          </a:prstGeom>
          <a:noFill/>
          <a:ln/>
        </p:spPr>
        <p:txBody>
          <a:bodyPr wrap="square" rtlCol="0" anchor="ctr"/>
          <a:lstStyle/>
          <a:p>
            <a:pPr marL="0" indent="0">
              <a:buNone/>
            </a:pPr>
            <a:r>
              <a:rPr lang="en-US" sz="1800" i="1" dirty="0">
                <a:solidFill>
                  <a:srgbClr val="FFFFFF"/>
                </a:solidFill>
                <a:latin typeface="Helvetica "/>
                <a:ea typeface="Cambria" pitchFamily="34" charset="-122"/>
                <a:cs typeface="Cambria" pitchFamily="34" charset="-120"/>
              </a:rPr>
              <a:t>Thank you — questions welcome.</a:t>
            </a:r>
            <a:endParaRPr lang="en-US" sz="1800" dirty="0">
              <a:latin typeface="Helvetica "/>
            </a:endParaRPr>
          </a:p>
        </p:txBody>
      </p:sp>
      <p:sp>
        <p:nvSpPr>
          <p:cNvPr id="9" name="Text 7"/>
          <p:cNvSpPr/>
          <p:nvPr/>
        </p:nvSpPr>
        <p:spPr>
          <a:xfrm>
            <a:off x="640080" y="6126480"/>
            <a:ext cx="8229600" cy="365760"/>
          </a:xfrm>
          <a:prstGeom prst="rect">
            <a:avLst/>
          </a:prstGeom>
          <a:noFill/>
          <a:ln/>
        </p:spPr>
        <p:txBody>
          <a:bodyPr wrap="square" rtlCol="0" anchor="ctr"/>
          <a:lstStyle/>
          <a:p>
            <a:pPr marL="0" indent="0">
              <a:buNone/>
            </a:pPr>
            <a:r>
              <a:rPr lang="en-US" sz="1250" dirty="0">
                <a:solidFill>
                  <a:srgbClr val="9FB48A"/>
                </a:solidFill>
                <a:latin typeface="Helvetica "/>
                <a:ea typeface="Calibri" pitchFamily="34" charset="-122"/>
                <a:cs typeface="Calibri" pitchFamily="34" charset="-120"/>
              </a:rPr>
              <a:t>Valentin  ·  31383/2025  ·  31383_2025_Valentin_Farm_DB</a:t>
            </a:r>
            <a:endParaRPr lang="en-US" sz="1250" dirty="0">
              <a:latin typeface="Helvetica "/>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1151</Words>
  <Application>Microsoft Office PowerPoint</Application>
  <PresentationFormat>Widescreen</PresentationFormat>
  <Paragraphs>175</Paragraphs>
  <Slides>12</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 Helvetica </vt:lpstr>
      <vt:lpstr> Helvetica Helvetica </vt:lpstr>
      <vt:lpstr>Arial</vt:lpstr>
      <vt:lpstr>Calibri</vt:lpstr>
      <vt:lpstr>Cambria</vt:lpstr>
      <vt:lpstr>Courier New</vt:lpstr>
      <vt:lpstr>Helvetica </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ELOHOME</cp:lastModifiedBy>
  <cp:revision>5</cp:revision>
  <dcterms:created xsi:type="dcterms:W3CDTF">2026-07-11T10:48:00Z</dcterms:created>
  <dcterms:modified xsi:type="dcterms:W3CDTF">2026-07-15T06:30:42Z</dcterms:modified>
</cp:coreProperties>
</file>